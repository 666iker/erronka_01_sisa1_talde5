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6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5862C3-A245-58ED-AF80-CC7E66372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BE6698-68F0-85B6-FAE2-B50C85FB2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99DC23-385B-8D22-A786-B6C62085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4223-B332-43CF-9406-8516ECB6F438}" type="datetimeFigureOut">
              <a:rPr lang="es-ES" smtClean="0"/>
              <a:t>29/10/2026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56B42A-2A51-2724-C09C-F02E9AE14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56D87C-4506-F961-98DA-6A5374398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D996-38C7-49EF-88F6-CEA67C75CE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8004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E3B10-EC2F-B835-FBC9-A16EC68B3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55A316-EC66-331A-A989-F38120C70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F9DA06-6827-9563-4043-F265CDCAD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4223-B332-43CF-9406-8516ECB6F438}" type="datetimeFigureOut">
              <a:rPr lang="es-ES" smtClean="0"/>
              <a:t>29/10/2026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ABA85B-44EA-9288-1E1E-39FF9A9A7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442194-F708-FE2B-3C91-7462824DC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D996-38C7-49EF-88F6-CEA67C75CE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1698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94A34-1F6B-E1B1-17C7-95C5D950D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53DB6D-CC59-9012-3C2B-3C9BBF252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1379CC-1C1F-BE6A-4CC1-9889A817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4223-B332-43CF-9406-8516ECB6F438}" type="datetimeFigureOut">
              <a:rPr lang="es-ES" smtClean="0"/>
              <a:t>29/10/2026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D90495-EDC4-B834-AA31-E30C9E013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3D08F1-1418-CB70-4203-FEA59DF90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D996-38C7-49EF-88F6-CEA67C75CE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3424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18964-8FB1-0C8F-AFB0-F7DCF0A62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7FD0FA-2A30-2B3B-96DB-89BADE0A2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4877F7-97A7-B2CD-A203-3A1472088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EEB85B-4824-51E1-8504-2065EFA2A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4223-B332-43CF-9406-8516ECB6F438}" type="datetimeFigureOut">
              <a:rPr lang="es-ES" smtClean="0"/>
              <a:t>29/10/2026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47E674-0932-9887-6AA7-7AB84E1BB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09196F-4FD5-6F39-C755-28D9960B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D996-38C7-49EF-88F6-CEA67C75CE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124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66D9E-C9AB-9B55-7ED9-56DBA409A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D8DB0E-ACD8-F503-0208-83F23B3A5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9FF1CB-64DF-0D7D-163F-5DDEE3663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F18D4A6-4DAF-35F4-98C9-D945C7448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7653576-E0E8-F658-4271-97E01964F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836C082-915B-2ACC-49D9-CD1FD93D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4223-B332-43CF-9406-8516ECB6F438}" type="datetimeFigureOut">
              <a:rPr lang="es-ES" smtClean="0"/>
              <a:t>29/10/2026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0B7D092-96CC-6FF3-1552-998414BAB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D98DE85-05D5-A46B-E0F7-9B6C72FA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D996-38C7-49EF-88F6-CEA67C75CE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494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17F8C-8A91-3CFB-10BF-E6AC18E2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90A9485-9973-40AE-5ACF-19C02D07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4223-B332-43CF-9406-8516ECB6F438}" type="datetimeFigureOut">
              <a:rPr lang="es-ES" smtClean="0"/>
              <a:t>29/10/2026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52EAB6-E25E-9D56-DB94-FA34E55E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3DC84E9-FCA5-96FA-D497-11D2361D1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D996-38C7-49EF-88F6-CEA67C75CE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7860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35F8F9-18D4-0A6F-016D-2582553C0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4223-B332-43CF-9406-8516ECB6F438}" type="datetimeFigureOut">
              <a:rPr lang="es-ES" smtClean="0"/>
              <a:t>29/10/2026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729055-B00B-E756-7AC9-E3258B01E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D82D64-0C2C-5D22-1193-AA131267E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D996-38C7-49EF-88F6-CEA67C75CE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189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B0CCA-D96B-7DCC-6355-7DD7496ED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D7AFA1-23AB-E11B-541C-390E8826D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8B69AF-D7C2-A06D-B608-8DA303787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DEF42A-6409-A45F-F4BC-D3B409CA9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4223-B332-43CF-9406-8516ECB6F438}" type="datetimeFigureOut">
              <a:rPr lang="es-ES" smtClean="0"/>
              <a:t>29/10/2026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D812CE-525C-0F45-B3E1-3D3C9792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89C938-D3D4-B7D0-9316-261E5A7B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D996-38C7-49EF-88F6-CEA67C75CE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958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E6EAB-2A84-1D10-16A4-20C719FB3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018975E-DF94-44D0-D66C-1A36A923FD8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988439-3676-623C-5B0C-F6DA2D399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18BD8B-23D2-827B-339F-7190793FA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4223-B332-43CF-9406-8516ECB6F438}" type="datetimeFigureOut">
              <a:rPr lang="es-ES" smtClean="0"/>
              <a:t>29/10/2026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97DD90-6C25-AC5F-32D8-5F4EB77DB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33F23A-A318-BB19-C8A1-3A364E1F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D996-38C7-49EF-88F6-CEA67C75CE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4748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931690-0371-C354-3CC1-B398EEE86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FCCEC0-B1CB-3476-4311-E25485115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35517B-256C-296F-273B-5064F42A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4223-B332-43CF-9406-8516ECB6F438}" type="datetimeFigureOut">
              <a:rPr lang="es-ES" smtClean="0"/>
              <a:t>29/10/2026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F8A693-8845-82AE-C368-AD37F4D7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023D33-FBF4-AFFD-ED12-F8B04649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D996-38C7-49EF-88F6-CEA67C75CE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2243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5FD513-53FD-1276-2EF2-DACD36E0D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2D1F3FA-7F3F-2C6D-14A8-454C86228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193749-3D00-FFAC-5157-DC9BEE161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4223-B332-43CF-9406-8516ECB6F438}" type="datetimeFigureOut">
              <a:rPr lang="es-ES" smtClean="0"/>
              <a:t>29/10/2026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74443E-42CF-90E8-45A7-81A0694B1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925D5F-355F-F44A-ACCF-416BA741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D996-38C7-49EF-88F6-CEA67C75CE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946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CB5C656-A8B6-5EB7-1B2E-52CB0D12D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8D07EA-C821-DFA2-BD04-A6C78DB31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66C340-74D1-B340-1941-E19399DE3F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B64223-B332-43CF-9406-8516ECB6F438}" type="datetimeFigureOut">
              <a:rPr lang="es-ES" smtClean="0"/>
              <a:t>29/10/2026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950779-84EE-DD48-F1A8-DD1EB460D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5FDCDB-C5A3-4CA4-C229-7BF69BF29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9D996-38C7-49EF-88F6-CEA67C75CE0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1144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54FC35A-969A-B9B1-2D8B-97922EF673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375D091A-EC62-4B7E-04F7-F982BCD73F6F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A5B16DC3-F527-65CC-986B-A223A4FB2899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5046D67-C02E-645A-43A8-255DDA377B81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049C2A0-6078-27CB-E73B-39D599B01BE0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3813EF4-D0AC-EE30-DA57-6EAF8F1D3FAD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BA3B564-77CC-70EC-E781-AB8E1C72DC21}"/>
              </a:ext>
            </a:extLst>
          </p:cNvPr>
          <p:cNvSpPr/>
          <p:nvPr/>
        </p:nvSpPr>
        <p:spPr>
          <a:xfrm>
            <a:off x="952500" y="571500"/>
            <a:ext cx="10287000" cy="5715000"/>
          </a:xfrm>
          <a:prstGeom prst="roundRect">
            <a:avLst/>
          </a:prstGeom>
          <a:solidFill>
            <a:srgbClr val="FEFCF5"/>
          </a:solidFill>
          <a:ln w="317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F4ED1DD-440C-4D91-2202-80BDD02BA51C}"/>
              </a:ext>
            </a:extLst>
          </p:cNvPr>
          <p:cNvSpPr/>
          <p:nvPr/>
        </p:nvSpPr>
        <p:spPr>
          <a:xfrm>
            <a:off x="1079500" y="698500"/>
            <a:ext cx="10033000" cy="5461000"/>
          </a:xfrm>
          <a:prstGeom prst="roundRect">
            <a:avLst/>
          </a:prstGeom>
          <a:noFill/>
          <a:ln w="12700" cap="flat" cmpd="sng" algn="ctr">
            <a:solidFill>
              <a:srgbClr val="CBD5E1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61C3496-29EF-7187-B9D1-03A110C59493}"/>
              </a:ext>
            </a:extLst>
          </p:cNvPr>
          <p:cNvSpPr/>
          <p:nvPr/>
        </p:nvSpPr>
        <p:spPr>
          <a:xfrm>
            <a:off x="1397000" y="952500"/>
            <a:ext cx="4191000" cy="330200"/>
          </a:xfrm>
          <a:prstGeom prst="roundRect">
            <a:avLst/>
          </a:prstGeom>
          <a:solidFill>
            <a:srgbClr val="FBCFE8"/>
          </a:solidFill>
          <a:ln w="15875">
            <a:solidFill>
              <a:srgbClr val="DB2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b="1">
                <a:solidFill>
                  <a:srgbClr val="0F172A"/>
                </a:solidFill>
                <a:latin typeface="Segoe Print" panose="02000600000000000000" pitchFamily="2" charset="0"/>
              </a:rPr>
              <a:t>CIFP Uni Eibar-Ermua LHII (2026-2027)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BC7A400-57B2-611C-562A-19F68C92C75B}"/>
              </a:ext>
            </a:extLst>
          </p:cNvPr>
          <p:cNvSpPr txBox="1"/>
          <p:nvPr/>
        </p:nvSpPr>
        <p:spPr>
          <a:xfrm>
            <a:off x="1333500" y="1524000"/>
            <a:ext cx="9398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500" b="1">
                <a:solidFill>
                  <a:srgbClr val="B91C1C"/>
                </a:solidFill>
                <a:latin typeface="Segoe Print" panose="02000600000000000000" pitchFamily="2" charset="0"/>
              </a:rPr>
              <a:t>1. ERRONKA: STREAMING AZPIEGITURA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C602270-E616-ED75-D695-7F7C592A66BC}"/>
              </a:ext>
            </a:extLst>
          </p:cNvPr>
          <p:cNvSpPr txBox="1"/>
          <p:nvPr/>
        </p:nvSpPr>
        <p:spPr>
          <a:xfrm>
            <a:off x="1371600" y="2603500"/>
            <a:ext cx="9398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400" b="1">
                <a:solidFill>
                  <a:srgbClr val="334155"/>
                </a:solidFill>
                <a:latin typeface="Segoe Print" panose="02000600000000000000" pitchFamily="2" charset="0"/>
              </a:rPr>
              <a:t>Sareflix Proiektua - SISA1 Zikloa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6FA7EB-1907-8FFE-0C80-B1E20C8CF00B}"/>
              </a:ext>
            </a:extLst>
          </p:cNvPr>
          <p:cNvSpPr/>
          <p:nvPr/>
        </p:nvSpPr>
        <p:spPr>
          <a:xfrm>
            <a:off x="1397000" y="3111500"/>
            <a:ext cx="6350000" cy="508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 doblada 13">
            <a:extLst>
              <a:ext uri="{FF2B5EF4-FFF2-40B4-BE49-F238E27FC236}">
                <a16:creationId xmlns:a16="http://schemas.microsoft.com/office/drawing/2014/main" id="{3C2095AF-5D36-D44C-C347-647FC8F52C3B}"/>
              </a:ext>
            </a:extLst>
          </p:cNvPr>
          <p:cNvSpPr/>
          <p:nvPr/>
        </p:nvSpPr>
        <p:spPr>
          <a:xfrm rot="120000">
            <a:off x="6985000" y="3365500"/>
            <a:ext cx="3619500" cy="2349500"/>
          </a:xfrm>
          <a:prstGeom prst="foldedCorner">
            <a:avLst/>
          </a:prstGeom>
          <a:solidFill>
            <a:srgbClr val="FEF08A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27000" rIns="101600" rtlCol="0" anchor="ctr"/>
          <a:lstStyle/>
          <a:p>
            <a:pPr algn="ctr"/>
            <a:r>
              <a:rPr lang="es-ES" sz="1100" b="1">
                <a:solidFill>
                  <a:srgbClr val="0F172A"/>
                </a:solidFill>
                <a:latin typeface="Segoe Print" panose="02000600000000000000" pitchFamily="2" charset="0"/>
              </a:rPr>
              <a:t>SISA1 - 5. TALDEA:
</a:t>
            </a:r>
            <a:r>
              <a:rPr lang="es-ES" sz="1000">
                <a:solidFill>
                  <a:srgbClr val="0F172A"/>
                </a:solidFill>
                <a:latin typeface="Segoe Print" panose="02000600000000000000" pitchFamily="2" charset="0"/>
              </a:rPr>
              <a:t>- Axular Munoz
- Iker Monkayola
- Alex Sierra
- Jokin Martinez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8FB8823-5A96-74F2-8A24-2F835E99200F}"/>
              </a:ext>
            </a:extLst>
          </p:cNvPr>
          <p:cNvSpPr/>
          <p:nvPr/>
        </p:nvSpPr>
        <p:spPr>
          <a:xfrm rot="120000">
            <a:off x="8350250" y="3276600"/>
            <a:ext cx="889000" cy="2286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D454D58F-96E8-6A17-CE69-DBACBB6C9CB7}"/>
              </a:ext>
            </a:extLst>
          </p:cNvPr>
          <p:cNvSpPr/>
          <p:nvPr/>
        </p:nvSpPr>
        <p:spPr>
          <a:xfrm>
            <a:off x="1397000" y="3429000"/>
            <a:ext cx="5207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A4FB9D1-4181-2173-F789-CE346C1EAB24}"/>
              </a:ext>
            </a:extLst>
          </p:cNvPr>
          <p:cNvSpPr/>
          <p:nvPr/>
        </p:nvSpPr>
        <p:spPr>
          <a:xfrm>
            <a:off x="1422400" y="3454400"/>
            <a:ext cx="5156200" cy="431800"/>
          </a:xfrm>
          <a:prstGeom prst="roundRect">
            <a:avLst/>
          </a:prstGeom>
          <a:solidFill>
            <a:srgbClr val="BAE6FD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Laburpena: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C33E9BC-8136-AD62-48CD-E417B156DB3C}"/>
              </a:ext>
            </a:extLst>
          </p:cNvPr>
          <p:cNvSpPr txBox="1"/>
          <p:nvPr/>
        </p:nvSpPr>
        <p:spPr>
          <a:xfrm>
            <a:off x="1524000" y="3962400"/>
            <a:ext cx="4953000" cy="1523494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00">
                <a:solidFill>
                  <a:srgbClr val="334155"/>
                </a:solidFill>
                <a:latin typeface="Segoe Print" panose="02000600000000000000" pitchFamily="2" charset="0"/>
              </a:rPr>
              <a:t>* Bideo-streaming azpiegitura osoa
* 5 Irakasgaiak kate bakar batean lotuta
* Zerbitzari lokala: IIS martxan (8080)
* Datu-base erlazional normalizatua (3FN)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77B60A2-E89C-D393-6C8D-F67C8659D596}"/>
              </a:ext>
            </a:extLst>
          </p:cNvPr>
          <p:cNvSpPr/>
          <p:nvPr/>
        </p:nvSpPr>
        <p:spPr>
          <a:xfrm rot="180000">
            <a:off x="8001000" y="914400"/>
            <a:ext cx="2540000" cy="406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s-ES" sz="1000" b="1">
                <a:solidFill>
                  <a:srgbClr val="16A34A"/>
                </a:solidFill>
                <a:latin typeface="Segoe Print" panose="02000600000000000000" pitchFamily="2" charset="0"/>
              </a:rPr>
              <a:t>[PROIEKTU INTEGRATUA]</a:t>
            </a:r>
          </a:p>
        </p:txBody>
      </p:sp>
    </p:spTree>
    <p:extLst>
      <p:ext uri="{BB962C8B-B14F-4D97-AF65-F5344CB8AC3E}">
        <p14:creationId xmlns:p14="http://schemas.microsoft.com/office/powerpoint/2010/main" val="440791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E7E6C44-697A-6BDF-8567-3625DF95E6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5EDDA59-A9CA-E3E8-904C-E17B560E82D8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1FD9472-D80D-270D-0F2E-75A26BAAB067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1337BBE-94A7-536A-A891-A2E641A3C6AA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BDA7D10-5EB1-02EC-BCFF-06D9E01225AF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0118CC8-1C2C-4E4F-CDD0-87114EB8E03C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9334E01-3B55-3CAD-E136-781C0C2D5200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GIDA ETA PLANIFIKAZIOA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45955BC-F306-06B4-8C5E-151EF12AB422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Proiektuaren Aurkibidea eta Bide-Orria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A3F009B-BBC9-1395-1CF7-7840B71504CD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AF71029-6773-B37F-B029-42B6BF31BDB0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02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5300833-0674-3912-AD7F-C982482CED43}"/>
              </a:ext>
            </a:extLst>
          </p:cNvPr>
          <p:cNvSpPr/>
          <p:nvPr/>
        </p:nvSpPr>
        <p:spPr>
          <a:xfrm>
            <a:off x="952500" y="1333500"/>
            <a:ext cx="5969000" cy="476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0BE45816-B4B7-18A9-86E2-64CE09353831}"/>
              </a:ext>
            </a:extLst>
          </p:cNvPr>
          <p:cNvSpPr/>
          <p:nvPr/>
        </p:nvSpPr>
        <p:spPr>
          <a:xfrm>
            <a:off x="977900" y="1358900"/>
            <a:ext cx="5918200" cy="431800"/>
          </a:xfrm>
          <a:prstGeom prst="roundRect">
            <a:avLst/>
          </a:prstGeom>
          <a:solidFill>
            <a:srgbClr val="FEF08A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Proiektuaren 6 Ardatzak: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E9FFA3E-6205-7A84-D7C2-3F03D20B032F}"/>
              </a:ext>
            </a:extLst>
          </p:cNvPr>
          <p:cNvSpPr txBox="1"/>
          <p:nvPr/>
        </p:nvSpPr>
        <p:spPr>
          <a:xfrm>
            <a:off x="1079500" y="1866900"/>
            <a:ext cx="5715000" cy="2408352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1. Sareflix: Streaming plataformaren xedea
2. Sareak: Kableatua, CRC-6 eta Modulazioak
3. Datu-Baseak: E/R eskema, 3FN eta Access
4. Sistemak: Windows Server 2022 eta RAID
5. Digitalizazioa: IT/OT eta 11 TGDak
6. Markatze Lengoaiak: HTML5, CSS3 eta Responsive</a:t>
            </a:r>
          </a:p>
        </p:txBody>
      </p:sp>
      <p:sp>
        <p:nvSpPr>
          <p:cNvPr id="15" name="Rectángulo: esquina doblada 14">
            <a:extLst>
              <a:ext uri="{FF2B5EF4-FFF2-40B4-BE49-F238E27FC236}">
                <a16:creationId xmlns:a16="http://schemas.microsoft.com/office/drawing/2014/main" id="{1CA80AEB-4FD4-C2B5-760A-7E7F71444E0D}"/>
              </a:ext>
            </a:extLst>
          </p:cNvPr>
          <p:cNvSpPr/>
          <p:nvPr/>
        </p:nvSpPr>
        <p:spPr>
          <a:xfrm rot="120000">
            <a:off x="7366000" y="1587500"/>
            <a:ext cx="4191000" cy="2286000"/>
          </a:xfrm>
          <a:prstGeom prst="foldedCorner">
            <a:avLst/>
          </a:prstGeom>
          <a:solidFill>
            <a:srgbClr val="FED7AA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27000" rIns="101600" rtlCol="0" anchor="ctr"/>
          <a:lstStyle/>
          <a:p>
            <a:pPr algn="ctr"/>
            <a:r>
              <a:rPr lang="es-ES" sz="1100" b="1">
                <a:solidFill>
                  <a:srgbClr val="0F172A"/>
                </a:solidFill>
                <a:latin typeface="Segoe Print" panose="02000600000000000000" pitchFamily="2" charset="0"/>
              </a:rPr>
              <a:t>HELBURU NAGUSIA:
</a:t>
            </a:r>
            <a:r>
              <a:rPr lang="es-ES" sz="1000">
                <a:solidFill>
                  <a:srgbClr val="0F172A"/>
                </a:solidFill>
                <a:latin typeface="Segoe Print" panose="02000600000000000000" pitchFamily="2" charset="0"/>
              </a:rPr>
              <a:t>* Bideo-streaming plataforma
  baten azpiegitura osoa
  muturretik muturrera garatua!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2AA993C-41F4-BAFA-F93C-9C59A6CC0E91}"/>
              </a:ext>
            </a:extLst>
          </p:cNvPr>
          <p:cNvSpPr/>
          <p:nvPr/>
        </p:nvSpPr>
        <p:spPr>
          <a:xfrm rot="120000">
            <a:off x="9017000" y="1498600"/>
            <a:ext cx="889000" cy="2286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5A4AABC-0926-CEC5-FEEC-F92E6AE63E41}"/>
              </a:ext>
            </a:extLst>
          </p:cNvPr>
          <p:cNvSpPr/>
          <p:nvPr/>
        </p:nvSpPr>
        <p:spPr>
          <a:xfrm rot="-180000">
            <a:off x="7874000" y="4445000"/>
            <a:ext cx="3175000" cy="76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s-ES" sz="1000" b="1">
                <a:solidFill>
                  <a:srgbClr val="16A34A"/>
                </a:solidFill>
                <a:latin typeface="Segoe Print" panose="02000600000000000000" pitchFamily="2" charset="0"/>
              </a:rPr>
              <a:t>[6 MODULU TEKNIKO
%100 INTEGRATUTA]</a:t>
            </a:r>
          </a:p>
        </p:txBody>
      </p:sp>
    </p:spTree>
    <p:extLst>
      <p:ext uri="{BB962C8B-B14F-4D97-AF65-F5344CB8AC3E}">
        <p14:creationId xmlns:p14="http://schemas.microsoft.com/office/powerpoint/2010/main" val="3405444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B245F92-BC7F-A681-95E9-862FCEAC5C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17931ED-3B4D-3AAB-748E-46C272991CFA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B63B98A2-ABF5-CD5A-DCCC-D40DE62708BC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67C9131-30DD-CEC3-DF18-25BF76545B28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FEDD34E-6D0F-A8B3-EF29-9C94D19CD03C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9ADF07C-4D8B-3DD4-9526-6013A8051EB2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5EABF59-B7A2-E349-D2D6-F0FC2D844A16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SARRERA ETA TESTUINGURUA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D76E13A-BFA0-7C7D-A145-504CBC725050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Erronkaren Xedea: 'Sareflix' Streaming Azpiegitura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2621FAD-0D4F-AF3B-DA62-35676CD6612C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AE05D53-B19E-7B96-9785-1C4F0CDBFF90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03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DE6F476-C3A9-E023-B472-50CB84E9F37A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0864799-A2AB-B788-016A-E81F2A6AF514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FEF08A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Zer da Sareflix Egitasmoa?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4BD758C-B2FE-A5A2-ECE8-26FBFF449EBC}"/>
              </a:ext>
            </a:extLst>
          </p:cNvPr>
          <p:cNvSpPr txBox="1"/>
          <p:nvPr/>
        </p:nvSpPr>
        <p:spPr>
          <a:xfrm>
            <a:off x="1079500" y="1866900"/>
            <a:ext cx="5143500" cy="1577355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Enpresa-mailako streaming plataforma
* Rol bidezko sarbidea: Infantila, Familiarra, Heldua
* Zerbitzari lokala: http://192.168.70.21:8080/
* Multi-gailu: PC, eramangarri eta mugikorra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228AC74-FDFE-CC18-9709-626A5A2CEEA5}"/>
              </a:ext>
            </a:extLst>
          </p:cNvPr>
          <p:cNvSpPr/>
          <p:nvPr/>
        </p:nvSpPr>
        <p:spPr>
          <a:xfrm rot="90000">
            <a:off x="6731000" y="1270000"/>
            <a:ext cx="50165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6CAE647-E04D-A43D-D038-0C691E3C7AE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">
            <a:off x="6858000" y="1397000"/>
            <a:ext cx="4762500" cy="4000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803D8A66-6E60-7000-E9BD-41DD2FC41ED2}"/>
              </a:ext>
            </a:extLst>
          </p:cNvPr>
          <p:cNvSpPr txBox="1"/>
          <p:nvPr/>
        </p:nvSpPr>
        <p:spPr>
          <a:xfrm rot="90000">
            <a:off x="6832600" y="5445983"/>
            <a:ext cx="4813300" cy="192360"/>
          </a:xfrm>
          <a:prstGeom prst="rect">
            <a:avLst/>
          </a:prstGeom>
          <a:noFill/>
        </p:spPr>
        <p:txBody>
          <a:bodyPr vert="horz" wrap="square" lIns="25400" tIns="0" rtlCol="0">
            <a:spAutoFit/>
          </a:bodyPr>
          <a:lstStyle/>
          <a:p>
            <a:r>
              <a:rPr lang="es-ES" sz="950">
                <a:solidFill>
                  <a:srgbClr val="334155"/>
                </a:solidFill>
                <a:latin typeface="Segoe Print" panose="02000600000000000000" pitchFamily="2" charset="0"/>
              </a:rPr>
              <a:t>Gure Sareflix ataria nabigatzailean martxan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3B172E5-BF53-6E81-EF88-445285880944}"/>
              </a:ext>
            </a:extLst>
          </p:cNvPr>
          <p:cNvSpPr/>
          <p:nvPr/>
        </p:nvSpPr>
        <p:spPr>
          <a:xfrm rot="-810000">
            <a:off x="67945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A05179F-FE71-D436-F332-EEB0708AA4E5}"/>
              </a:ext>
            </a:extLst>
          </p:cNvPr>
          <p:cNvSpPr/>
          <p:nvPr/>
        </p:nvSpPr>
        <p:spPr>
          <a:xfrm rot="990000">
            <a:off x="111760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3208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198BE53-C891-11FF-141C-AF655F28E9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B27002D-9480-6B9F-7D97-78345FEA6B93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2C9B417F-616C-8D7A-DA8D-9F7308552813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D058BE6-9A34-3CDD-5033-588288F19BD8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2918C23-5EA4-23FF-C55C-496D7C523C21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8AA6D9A-386E-3CD7-2BBB-500A54149C5F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700A7BF-8CA5-74C2-B0A2-533005188086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1. SAREAK (REDEAK)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BC8CC03-5FD5-7834-5AC5-85BB104496E6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fi-FI" sz="2000" b="1">
                <a:solidFill>
                  <a:srgbClr val="0F172A"/>
                </a:solidFill>
                <a:latin typeface="Segoe Print" panose="02000600000000000000" pitchFamily="2" charset="0"/>
              </a:rPr>
              <a:t>OSI 1. eta 2. Mailak: Kableatu Fisikoa eta Egituratua</a:t>
            </a:r>
            <a:endParaRPr lang="es-ES" sz="2000" b="1">
              <a:solidFill>
                <a:srgbClr val="0F172A"/>
              </a:solidFill>
              <a:latin typeface="Segoe Print" panose="02000600000000000000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78C8430-2E73-AF26-E509-7B0916D55D27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BFFE4B3-62B7-AF6B-EAAA-9C2748F61C29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04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3886CE8-824D-B37D-E7A1-67046C3F123C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C2B924E-4D62-9128-F29A-DDCB0F1FFAF2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BAE6FD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Azpiegitura Fisikoa: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65FA0F8-5924-AB87-8302-C2F30314AB13}"/>
              </a:ext>
            </a:extLst>
          </p:cNvPr>
          <p:cNvSpPr txBox="1"/>
          <p:nvPr/>
        </p:nvSpPr>
        <p:spPr>
          <a:xfrm>
            <a:off x="1079500" y="1866900"/>
            <a:ext cx="5143500" cy="1992853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1. Maila (Fisikoa): UTP Cat6 kableatua
* TIA/EIA-568B araua zorrotz jarraituta
* Mahaiko Keystone konektorea inpaktatuta
* Rack-eko Patch Panela (18. ataka)
* LAN Tester proba: 8 argiak berdez (OK)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C1DA025-3310-C34B-073F-9315F2D05093}"/>
              </a:ext>
            </a:extLst>
          </p:cNvPr>
          <p:cNvSpPr/>
          <p:nvPr/>
        </p:nvSpPr>
        <p:spPr>
          <a:xfrm rot="60000">
            <a:off x="6731000" y="1270000"/>
            <a:ext cx="50165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B5AA268-218A-2DCB-2A0F-50D2EAF5F6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000">
            <a:off x="6858000" y="1397000"/>
            <a:ext cx="4762500" cy="4000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043FC114-8137-5BDC-F2D7-9F67D3F7BF80}"/>
              </a:ext>
            </a:extLst>
          </p:cNvPr>
          <p:cNvSpPr txBox="1"/>
          <p:nvPr/>
        </p:nvSpPr>
        <p:spPr>
          <a:xfrm rot="60000">
            <a:off x="6832600" y="5445983"/>
            <a:ext cx="4813300" cy="192360"/>
          </a:xfrm>
          <a:prstGeom prst="rect">
            <a:avLst/>
          </a:prstGeom>
          <a:noFill/>
        </p:spPr>
        <p:txBody>
          <a:bodyPr vert="horz" wrap="square" lIns="25400" tIns="0" rtlCol="0">
            <a:spAutoFit/>
          </a:bodyPr>
          <a:lstStyle/>
          <a:p>
            <a:r>
              <a:rPr lang="es-ES" sz="950">
                <a:solidFill>
                  <a:srgbClr val="334155"/>
                </a:solidFill>
                <a:latin typeface="Segoe Print" panose="02000600000000000000" pitchFamily="2" charset="0"/>
              </a:rPr>
              <a:t>Patch Panela rack-eko 18. atakan konektatuta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081D0ED-B7FB-7F3B-A8B0-B2891ACC6B17}"/>
              </a:ext>
            </a:extLst>
          </p:cNvPr>
          <p:cNvSpPr/>
          <p:nvPr/>
        </p:nvSpPr>
        <p:spPr>
          <a:xfrm rot="-840000">
            <a:off x="67945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F9A5C63-0E6F-499C-DCFF-D56B7190DC31}"/>
              </a:ext>
            </a:extLst>
          </p:cNvPr>
          <p:cNvSpPr/>
          <p:nvPr/>
        </p:nvSpPr>
        <p:spPr>
          <a:xfrm rot="960000">
            <a:off x="111760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3416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3DD1BB1-2021-47C7-FFA1-46DB542BDF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971CE24-C9D5-4A1B-9B31-7B7D75E59893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383B983B-27B2-F252-F13B-A772FF32495C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BFB34BE-E7CC-6DDB-E052-FCFE5573B236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388910E-1476-7A87-70E9-6B1F63122F11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E24ACAA-BAA6-2784-F852-7B645B5A5082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4AC9BC3-44EF-19B7-9ED6-106626A4B075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1. SAREAK (REDEAK)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B66E458-5FAA-268E-9842-B768BEA54C7D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Pasahitza ASCIIra eta CRC-6-GSM Errore-Detekzioa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D0FCE1F-9EB2-19CA-843C-F47080F6931A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13FC509-B783-E388-BEC7-046BFD6458E4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05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E9EB7BE-A990-C41F-5B1F-7456F4134395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7E895C7-4299-1D67-7909-A7361EA74791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Kalkuluaren Datuak: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38B910-0CA6-323E-1E39-0997D237A0E6}"/>
              </a:ext>
            </a:extLst>
          </p:cNvPr>
          <p:cNvSpPr txBox="1"/>
          <p:nvPr/>
        </p:nvSpPr>
        <p:spPr>
          <a:xfrm>
            <a:off x="1079500" y="1866900"/>
            <a:ext cx="5143500" cy="1992853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Pasahitza: 'Kuper-67' (zerbitzarikoa)
* Karakterea: 'K' = 01001011 (ASCII 75)
* Polinomioa: 1101111 (CRC-6-GSM)
* Hondarra: 001010 (Modulo-2 XOR)
* Bidalitako trama osoa: 14 bit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19AE804-7F35-939D-D791-D5E29822980E}"/>
              </a:ext>
            </a:extLst>
          </p:cNvPr>
          <p:cNvSpPr/>
          <p:nvPr/>
        </p:nvSpPr>
        <p:spPr>
          <a:xfrm rot="90000">
            <a:off x="6731000" y="1270000"/>
            <a:ext cx="50165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CC5E0A4-7B56-CE20-35A0-8D6F66EC62D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">
            <a:off x="6858000" y="1397000"/>
            <a:ext cx="4762500" cy="4000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F31CC200-9823-DD03-40F2-B715D14C9BE1}"/>
              </a:ext>
            </a:extLst>
          </p:cNvPr>
          <p:cNvSpPr txBox="1"/>
          <p:nvPr/>
        </p:nvSpPr>
        <p:spPr>
          <a:xfrm rot="90000">
            <a:off x="6832600" y="5445983"/>
            <a:ext cx="4813300" cy="192360"/>
          </a:xfrm>
          <a:prstGeom prst="rect">
            <a:avLst/>
          </a:prstGeom>
          <a:noFill/>
        </p:spPr>
        <p:txBody>
          <a:bodyPr vert="horz" wrap="square" lIns="25400" tIns="0" rtlCol="0">
            <a:spAutoFit/>
          </a:bodyPr>
          <a:lstStyle/>
          <a:p>
            <a:r>
              <a:rPr lang="es-ES" sz="950">
                <a:solidFill>
                  <a:srgbClr val="334155"/>
                </a:solidFill>
                <a:latin typeface="Segoe Print" panose="02000600000000000000" pitchFamily="2" charset="0"/>
              </a:rPr>
              <a:t>Koadernoko CRC-6 kalkulu erreala eskuz egina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3CB4137-4C03-9310-32F3-C60916F9CA06}"/>
              </a:ext>
            </a:extLst>
          </p:cNvPr>
          <p:cNvSpPr/>
          <p:nvPr/>
        </p:nvSpPr>
        <p:spPr>
          <a:xfrm rot="-810000">
            <a:off x="67945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36B46EF-2540-90E6-3380-87104034D032}"/>
              </a:ext>
            </a:extLst>
          </p:cNvPr>
          <p:cNvSpPr/>
          <p:nvPr/>
        </p:nvSpPr>
        <p:spPr>
          <a:xfrm rot="990000">
            <a:off x="111760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2998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F34FD2B-1A27-E8D6-D6FE-A511690FE7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55D8BD5-AE93-AFCE-728B-379DA067003C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0F5BB311-C727-E6AD-E7B8-984F43887569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AD4C73C7-EB63-1D3A-5362-691A346992FA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5FA4167-A54B-63D6-6372-E98A2064FCC7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B76E32C-1FE9-DC71-735F-41A329910E88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138B7F0-2BB2-A3EB-E85B-20146D5EA1FE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1. SAREAK (REDEAK)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7E5931-9227-C7E2-5C65-8937C927192F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it-IT" sz="2000" b="1">
                <a:solidFill>
                  <a:srgbClr val="0F172A"/>
                </a:solidFill>
                <a:latin typeface="Segoe Print" panose="02000600000000000000" pitchFamily="2" charset="0"/>
              </a:rPr>
              <a:t>Manchester Kodifikazioa eta Modulazio Digitalak</a:t>
            </a:r>
            <a:endParaRPr lang="es-ES" sz="2000" b="1">
              <a:solidFill>
                <a:srgbClr val="0F172A"/>
              </a:solidFill>
              <a:latin typeface="Segoe Print" panose="02000600000000000000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79DD1B0-B87B-7EA5-2C9F-AAC07138F3CC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1972068-A27C-0CB7-BE1E-69E7435024D2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06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DBAD4B8-42E2-8B64-BC83-72768F30932C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5A412D3-FFB3-94D0-B787-D9D89F765999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FEF08A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Transmisio Metodoak: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834F472-0851-A8C4-FFF2-5247F74B6621}"/>
              </a:ext>
            </a:extLst>
          </p:cNvPr>
          <p:cNvSpPr txBox="1"/>
          <p:nvPr/>
        </p:nvSpPr>
        <p:spPr>
          <a:xfrm>
            <a:off x="1079500" y="1866900"/>
            <a:ext cx="5143500" cy="1992853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Manchester: Bit erdian aldaketa (Erlojua)
* ASK: Uhinaren anplitudea aldatu
* FSK: Uhinaren maiztasuna bikoiztu
* PSK: Fasea 180 gradu aldatu
* Konbinatua: 64 sinbolo posible!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65A865D-6705-B3E9-D596-49012CD42087}"/>
              </a:ext>
            </a:extLst>
          </p:cNvPr>
          <p:cNvSpPr/>
          <p:nvPr/>
        </p:nvSpPr>
        <p:spPr>
          <a:xfrm rot="60000">
            <a:off x="6731000" y="1270000"/>
            <a:ext cx="50165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B784617-0314-195B-FE14-4F018793B1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000">
            <a:off x="6858000" y="1397000"/>
            <a:ext cx="4762500" cy="4000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539E592-E63F-CD10-BEA5-E936B22515AC}"/>
              </a:ext>
            </a:extLst>
          </p:cNvPr>
          <p:cNvSpPr txBox="1"/>
          <p:nvPr/>
        </p:nvSpPr>
        <p:spPr>
          <a:xfrm rot="60000">
            <a:off x="6832600" y="5445983"/>
            <a:ext cx="4813300" cy="192360"/>
          </a:xfrm>
          <a:prstGeom prst="rect">
            <a:avLst/>
          </a:prstGeom>
          <a:noFill/>
        </p:spPr>
        <p:txBody>
          <a:bodyPr vert="horz" wrap="square" lIns="25400" tIns="0" rtlCol="0">
            <a:spAutoFit/>
          </a:bodyPr>
          <a:lstStyle/>
          <a:p>
            <a:r>
              <a:rPr lang="es-ES" sz="950">
                <a:solidFill>
                  <a:srgbClr val="334155"/>
                </a:solidFill>
                <a:latin typeface="Segoe Print" panose="02000600000000000000" pitchFamily="2" charset="0"/>
              </a:rPr>
              <a:t>Manchester eta modulazioen marrazkiak koadernoan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0E8425F-AF59-86A3-0CDF-4EF9AE5B79CB}"/>
              </a:ext>
            </a:extLst>
          </p:cNvPr>
          <p:cNvSpPr/>
          <p:nvPr/>
        </p:nvSpPr>
        <p:spPr>
          <a:xfrm rot="-840000">
            <a:off x="67945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56C78E7-29CE-2FBA-1E2A-568EBFF280B5}"/>
              </a:ext>
            </a:extLst>
          </p:cNvPr>
          <p:cNvSpPr/>
          <p:nvPr/>
        </p:nvSpPr>
        <p:spPr>
          <a:xfrm rot="960000">
            <a:off x="111760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8263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7288195-78CF-DCE7-627B-AFA7DDD8F1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43AAD4E-BA26-1EB3-1D8B-07DA606995E6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38CAAC6-27BB-E0D8-4F73-2E8CC24023E0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95ED26F-F5FC-5E40-D8B4-5D317DE9FD32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E2FBE3B-94A7-3E45-F08B-A9223919A71C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40656FB-BE70-AC5A-5016-388E6276446A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1C6A1C0-3D7F-3E0A-D1EB-446911864A90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1. SAREAK (REDEAK)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2F54F3E-CFCB-7ED0-C12D-0CDA5A8E12AF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Sarearen Topologia, IP Helbideak eta Ping Probak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5F0DEE3-4D5E-F982-5397-AED5401EB210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86C78BE-8C30-4601-AA83-A7F43B75D62F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07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12816E3-2030-BB10-D47E-B0849F4FA4DA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5B4D7E0-7F86-3A50-7BE5-D33E84F5AE6F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BAE6FD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Sarearen Konfigurazioa: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88DD344-DF6B-CD39-5E5A-D27205AD9F65}"/>
              </a:ext>
            </a:extLst>
          </p:cNvPr>
          <p:cNvSpPr txBox="1"/>
          <p:nvPr/>
        </p:nvSpPr>
        <p:spPr>
          <a:xfrm>
            <a:off x="1079500" y="1866900"/>
            <a:ext cx="5143500" cy="1992853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Izar-topologia Switch nagusiarekin
* WinServer IP: 192.168.1.10
* PC1 Bezeroa: 192.168.1.20
* Ping probak: %0 pakete-galera (4/4)
* Wi-Fi AP: Mugikorretik konexio azkarra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01BA63-B533-9CD2-8447-A8EE0F6D4EF7}"/>
              </a:ext>
            </a:extLst>
          </p:cNvPr>
          <p:cNvSpPr/>
          <p:nvPr/>
        </p:nvSpPr>
        <p:spPr>
          <a:xfrm rot="90000">
            <a:off x="6731000" y="1270000"/>
            <a:ext cx="50165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7A31FFD-D1B6-D7E4-6855-B871B79FDF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">
            <a:off x="6858000" y="1397000"/>
            <a:ext cx="4762500" cy="4000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7D03300B-D313-B759-A157-61A367365343}"/>
              </a:ext>
            </a:extLst>
          </p:cNvPr>
          <p:cNvSpPr txBox="1"/>
          <p:nvPr/>
        </p:nvSpPr>
        <p:spPr>
          <a:xfrm rot="90000">
            <a:off x="6832600" y="5445983"/>
            <a:ext cx="4813300" cy="192360"/>
          </a:xfrm>
          <a:prstGeom prst="rect">
            <a:avLst/>
          </a:prstGeom>
          <a:noFill/>
        </p:spPr>
        <p:txBody>
          <a:bodyPr vert="horz" wrap="square" lIns="25400" tIns="0" rtlCol="0">
            <a:spAutoFit/>
          </a:bodyPr>
          <a:lstStyle/>
          <a:p>
            <a:r>
              <a:rPr lang="es-ES" sz="950">
                <a:solidFill>
                  <a:srgbClr val="334155"/>
                </a:solidFill>
                <a:latin typeface="Segoe Print" panose="02000600000000000000" pitchFamily="2" charset="0"/>
              </a:rPr>
              <a:t>Sarearen topologia Packet Tracer bidez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95052EB-F195-AFE5-4802-10343AEB9B96}"/>
              </a:ext>
            </a:extLst>
          </p:cNvPr>
          <p:cNvSpPr/>
          <p:nvPr/>
        </p:nvSpPr>
        <p:spPr>
          <a:xfrm rot="-810000">
            <a:off x="67945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396C57C-E536-055C-2E08-5E8B74A1775A}"/>
              </a:ext>
            </a:extLst>
          </p:cNvPr>
          <p:cNvSpPr/>
          <p:nvPr/>
        </p:nvSpPr>
        <p:spPr>
          <a:xfrm rot="990000">
            <a:off x="111760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0603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49FF7C4-3802-B112-875E-3D9B46C7C4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DAEB31B-A81B-7127-0B45-C81FAAD200FD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64D9DB94-FAF9-3AA8-DD2B-0ACCBBE45CDF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ED55248-2290-148D-85EB-DEC5500588A4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9926A50-41CA-3FA9-9C39-CFD2F1182B9E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893E529-D282-3A70-32C7-578DC54F1BE0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2EDFD46-E897-92A9-FEF0-83BF2EFB90E4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2. DATU-BASEAK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0074E95-CD72-8DAE-7342-3DBA5BB93FC4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DBKS Erabiltzearen Beharra eta Diseinu Metodologia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C9F50FA-7278-4A3C-81E1-A2C3462A1BFA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E682848-5975-0977-0296-551F28809E1D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08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1179CCD-BCD2-9954-A427-5518A99B55D6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4A54A0D-F46F-0BA7-2D07-FFD6BA6FCAF1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FEF08A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DBKSren Abantailak: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3873F64-8F19-A722-973E-30409BC15D1E}"/>
              </a:ext>
            </a:extLst>
          </p:cNvPr>
          <p:cNvSpPr txBox="1"/>
          <p:nvPr/>
        </p:nvSpPr>
        <p:spPr>
          <a:xfrm>
            <a:off x="1079500" y="1866900"/>
            <a:ext cx="5143500" cy="1577355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Erredundantzia eta kontraesanak ZERO
* Erreferentzia-osotasuna bermatuta
* Aldi bereko sarbidea (konkurrentzia)
* 3 Anomalia saihestu: Sarrera, Ezabatze, Eguneratze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BEE72DE1-047C-62AE-261E-9C3CA9069615}"/>
              </a:ext>
            </a:extLst>
          </p:cNvPr>
          <p:cNvSpPr/>
          <p:nvPr/>
        </p:nvSpPr>
        <p:spPr>
          <a:xfrm>
            <a:off x="6731000" y="1333500"/>
            <a:ext cx="5016500" cy="304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4FBBD26-9F5F-5672-D292-8954C1843C27}"/>
              </a:ext>
            </a:extLst>
          </p:cNvPr>
          <p:cNvSpPr/>
          <p:nvPr/>
        </p:nvSpPr>
        <p:spPr>
          <a:xfrm>
            <a:off x="6756400" y="1358900"/>
            <a:ext cx="4965700" cy="4318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Diseinuaren 4 Urratsak: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7A8CD38-8D9A-538F-7BAE-BD9A4C53835E}"/>
              </a:ext>
            </a:extLst>
          </p:cNvPr>
          <p:cNvSpPr txBox="1"/>
          <p:nvPr/>
        </p:nvSpPr>
        <p:spPr>
          <a:xfrm>
            <a:off x="6858000" y="1866900"/>
            <a:ext cx="4762500" cy="1577355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1. Beharren Analisia
2. Eredu Kontzeptuala (E/R)
3. Eredu Erlazionala (Taulak)
4. Normalizazioa (3FN)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2E39E47-64DF-31A5-CC25-05AEA26A6B7A}"/>
              </a:ext>
            </a:extLst>
          </p:cNvPr>
          <p:cNvSpPr/>
          <p:nvPr/>
        </p:nvSpPr>
        <p:spPr>
          <a:xfrm rot="150000">
            <a:off x="7493000" y="4762500"/>
            <a:ext cx="3429000" cy="76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s-ES" sz="1000" b="1">
                <a:solidFill>
                  <a:srgbClr val="16A34A"/>
                </a:solidFill>
                <a:latin typeface="Segoe Print" panose="02000600000000000000" pitchFamily="2" charset="0"/>
              </a:rPr>
              <a:t>[DATUEN OSOTASUNA
ANOMALIARIK GABE]</a:t>
            </a:r>
          </a:p>
        </p:txBody>
      </p:sp>
    </p:spTree>
    <p:extLst>
      <p:ext uri="{BB962C8B-B14F-4D97-AF65-F5344CB8AC3E}">
        <p14:creationId xmlns:p14="http://schemas.microsoft.com/office/powerpoint/2010/main" val="4006652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5E81D8D-E976-D74D-6005-341D9492CE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4527EDF2-1E18-4561-734D-4C44D50D2862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7E742FC8-D5A0-3B9E-7949-368FC2B3898F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BCD0AB3-2710-D46D-E510-F67F6C9C8E9C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D02633E-8FFD-8C11-0B5D-DDB9993FA1D6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2304DBF-AF99-32F2-D557-7A0044F25142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531DA00-BAA6-8541-CABF-263D538CE9AE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2. DATU-BASEAK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9AA749A-CE2D-38F0-7989-30E843265E6F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pt-BR" sz="2000" b="1">
                <a:solidFill>
                  <a:srgbClr val="0F172A"/>
                </a:solidFill>
                <a:latin typeface="Segoe Print" panose="02000600000000000000" pitchFamily="2" charset="0"/>
              </a:rPr>
              <a:t>Eredu Kontzeptuala: Sareflix E/R Diagrama</a:t>
            </a:r>
            <a:endParaRPr lang="es-ES" sz="2000" b="1">
              <a:solidFill>
                <a:srgbClr val="0F172A"/>
              </a:solidFill>
              <a:latin typeface="Segoe Print" panose="02000600000000000000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1F6196C-97C5-0C41-05F0-EBFCA55101C3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4A01B6A-0208-2297-9954-A2DE5D33FBEA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09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3DC62EB-830C-0F7E-ED6A-6CEF59B1F9E2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F775E65-AE68-2B3C-C940-053BCB9E9C4B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BAE6FD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Diseinu Erabaki Nagusiak: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9728FEB-37CB-7244-03FA-60A4CB7537EB}"/>
              </a:ext>
            </a:extLst>
          </p:cNvPr>
          <p:cNvSpPr txBox="1"/>
          <p:nvPr/>
        </p:nvSpPr>
        <p:spPr>
          <a:xfrm>
            <a:off x="1079500" y="1866900"/>
            <a:ext cx="5143500" cy="1992853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Herentzia ISA: Pelikulak, Serieak, Dokumentalak
* NULL baliorik gabeko egitura garbia
* Episodioak: Entitate ahula
* Bistaratzea: Erlazio ternarioa
  (Nork + Zer + Nondik ikusi duen)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710384F-78BC-E745-FFDC-0DDCF7807AED}"/>
              </a:ext>
            </a:extLst>
          </p:cNvPr>
          <p:cNvSpPr/>
          <p:nvPr/>
        </p:nvSpPr>
        <p:spPr>
          <a:xfrm rot="90000">
            <a:off x="6731000" y="1270000"/>
            <a:ext cx="50165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0C9DE4D-F455-B3C8-EFBF-BDE68A50584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">
            <a:off x="6858000" y="1397000"/>
            <a:ext cx="4762500" cy="4000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0B8077D2-7EE2-68CE-E2C6-71109FD61D40}"/>
              </a:ext>
            </a:extLst>
          </p:cNvPr>
          <p:cNvSpPr txBox="1"/>
          <p:nvPr/>
        </p:nvSpPr>
        <p:spPr>
          <a:xfrm rot="90000">
            <a:off x="6832600" y="5445983"/>
            <a:ext cx="4813300" cy="192360"/>
          </a:xfrm>
          <a:prstGeom prst="rect">
            <a:avLst/>
          </a:prstGeom>
          <a:noFill/>
        </p:spPr>
        <p:txBody>
          <a:bodyPr vert="horz" wrap="square" lIns="25400" tIns="0" rtlCol="0">
            <a:spAutoFit/>
          </a:bodyPr>
          <a:lstStyle/>
          <a:p>
            <a:r>
              <a:rPr lang="pt-BR" sz="950">
                <a:solidFill>
                  <a:srgbClr val="334155"/>
                </a:solidFill>
                <a:latin typeface="Segoe Print" panose="02000600000000000000" pitchFamily="2" charset="0"/>
              </a:rPr>
              <a:t>Sareflix Streaming E/R Diagrama Kontzeptuala</a:t>
            </a:r>
            <a:endParaRPr lang="es-ES" sz="950">
              <a:solidFill>
                <a:srgbClr val="334155"/>
              </a:solidFill>
              <a:latin typeface="Segoe Print" panose="02000600000000000000" pitchFamily="2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613E042-C0F2-39CD-A540-F60AEB34D75C}"/>
              </a:ext>
            </a:extLst>
          </p:cNvPr>
          <p:cNvSpPr/>
          <p:nvPr/>
        </p:nvSpPr>
        <p:spPr>
          <a:xfrm rot="-810000">
            <a:off x="67945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0744C43-6865-C1A7-6336-97075724FD07}"/>
              </a:ext>
            </a:extLst>
          </p:cNvPr>
          <p:cNvSpPr/>
          <p:nvPr/>
        </p:nvSpPr>
        <p:spPr>
          <a:xfrm rot="990000">
            <a:off x="111760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3381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FC74703-7533-D505-5DCC-E89B3AA97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8CE18B1-1071-5FB8-CFB2-2AFA28AC05E4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B1D432E7-457C-90DD-3A3B-645794612C6F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BF1CD1D-9006-5549-4ADF-A320E937C695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507A01F-4C0C-0950-C57D-D850B0DFB024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5590817-4286-5CEA-6188-FBD99E952EB9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0A691D0-2C88-6A8C-1D99-D9516C938A3B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2. DATU-BASEAK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3A9504E-E093-3DD1-4389-2CD876F2CCEA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it-IT" sz="2000" b="1">
                <a:solidFill>
                  <a:srgbClr val="0F172A"/>
                </a:solidFill>
                <a:latin typeface="Segoe Print" panose="02000600000000000000" pitchFamily="2" charset="0"/>
              </a:rPr>
              <a:t>Eredu Erlazionala eta 3FN Normalizazioa</a:t>
            </a:r>
            <a:endParaRPr lang="es-ES" sz="2000" b="1">
              <a:solidFill>
                <a:srgbClr val="0F172A"/>
              </a:solidFill>
              <a:latin typeface="Segoe Print" panose="02000600000000000000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5D4797-8DE6-74F2-C2B5-D00344C15D9E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EF42C57-FE90-AB29-1881-B3AA97553D84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10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A94F1DC-4A37-00E7-585A-F0AA91EFF1F0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84A6ADA-4199-0C5A-FB55-D8CD897A440B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3 Forma Normalak: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E40B3DD-4C97-1340-ABB7-2FCEE092F231}"/>
              </a:ext>
            </a:extLst>
          </p:cNvPr>
          <p:cNvSpPr txBox="1"/>
          <p:nvPr/>
        </p:nvSpPr>
        <p:spPr>
          <a:xfrm>
            <a:off x="1079500" y="1866900"/>
            <a:ext cx="5143500" cy="1577355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1FN: Balio atomikoak (Eduki_Genero tartekoa)
* 2FN: Dependentzia funtzional osoa gakoetan
* 3FN: Dependentzia iragankorrak desagertu
* Emaitza: 7 taula erredundantziarik gabe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C592187-EB81-1700-85BA-D94933D181A7}"/>
              </a:ext>
            </a:extLst>
          </p:cNvPr>
          <p:cNvSpPr/>
          <p:nvPr/>
        </p:nvSpPr>
        <p:spPr>
          <a:xfrm rot="90000">
            <a:off x="6731000" y="1270000"/>
            <a:ext cx="50165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E235D3B-B04C-3EBB-BA25-10574A484EC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">
            <a:off x="6858000" y="1397000"/>
            <a:ext cx="4762500" cy="4000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5CB4F3C-AE35-D08C-9CCE-33EF26DB1225}"/>
              </a:ext>
            </a:extLst>
          </p:cNvPr>
          <p:cNvSpPr txBox="1"/>
          <p:nvPr/>
        </p:nvSpPr>
        <p:spPr>
          <a:xfrm rot="90000">
            <a:off x="6832600" y="5445983"/>
            <a:ext cx="4813300" cy="192360"/>
          </a:xfrm>
          <a:prstGeom prst="rect">
            <a:avLst/>
          </a:prstGeom>
          <a:noFill/>
        </p:spPr>
        <p:txBody>
          <a:bodyPr vert="horz" wrap="square" lIns="25400" tIns="0" rtlCol="0">
            <a:spAutoFit/>
          </a:bodyPr>
          <a:lstStyle/>
          <a:p>
            <a:r>
              <a:rPr lang="es-ES" sz="950">
                <a:solidFill>
                  <a:srgbClr val="334155"/>
                </a:solidFill>
                <a:latin typeface="Segoe Print" panose="02000600000000000000" pitchFamily="2" charset="0"/>
              </a:rPr>
              <a:t>Datu-baseko taula normalizatuak webgunean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8E00991-BAB5-BEAD-DC05-F7C8A5C92787}"/>
              </a:ext>
            </a:extLst>
          </p:cNvPr>
          <p:cNvSpPr/>
          <p:nvPr/>
        </p:nvSpPr>
        <p:spPr>
          <a:xfrm rot="-810000">
            <a:off x="67945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CF50F67-04A8-EC64-C479-02AA283D0F8A}"/>
              </a:ext>
            </a:extLst>
          </p:cNvPr>
          <p:cNvSpPr/>
          <p:nvPr/>
        </p:nvSpPr>
        <p:spPr>
          <a:xfrm rot="990000">
            <a:off x="111760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4952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F1BDD38-F7F9-9636-685D-ECB4F92777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8057B63F-E6C5-70EE-0568-28615EB19F7E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5DCC93C2-38CA-7E73-13C7-3E0CE06137A5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114FEC6-FD9D-2486-800A-201AE52BF563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AEBEAAA-19A2-5F03-1E0F-3CBB03C43676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6616534-BD21-5354-331C-79EE509F6C37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DE95C58-7331-EF08-D7F9-D05BCCEB6C1D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2. DATU-BASEAK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B2A0E02-856F-CEAC-A191-1DAD6E8404F2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Inplementazio Praktikoa Microsoft Access-en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9A0DD5F-B1A6-FBB9-4331-91E582AE0254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3447D3-4D85-4382-B53E-ADF952252C4E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11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DFD7E01-B70A-F856-1B1C-93B5BFA028EA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6F60ED6-CA03-A805-8F4B-5B6BF5F58BAE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FEF08A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Access Ezarpenak: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C609BFC-7803-8951-FC7B-FE66F5A72544}"/>
              </a:ext>
            </a:extLst>
          </p:cNvPr>
          <p:cNvSpPr txBox="1"/>
          <p:nvPr/>
        </p:nvSpPr>
        <p:spPr>
          <a:xfrm>
            <a:off x="1079500" y="1866900"/>
            <a:ext cx="5143500" cy="1992853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Datu-motak: Autozenbakia, Testua, Moneta
* Gako konposatuak: Episodioak eta Bistaratzea
* Kaskadako ezabaketa: Serieak -&gt; Episodioak
* Baliozkotze araua: adin_gutxienekoa &gt;= 18
* Txertaketa: Gurasoak lehenik, semeak ondoren</a:t>
            </a:r>
          </a:p>
        </p:txBody>
      </p:sp>
      <p:sp>
        <p:nvSpPr>
          <p:cNvPr id="15" name="Rectángulo: esquina doblada 14">
            <a:extLst>
              <a:ext uri="{FF2B5EF4-FFF2-40B4-BE49-F238E27FC236}">
                <a16:creationId xmlns:a16="http://schemas.microsoft.com/office/drawing/2014/main" id="{86D057A3-32C8-76A7-AEE6-9AF148A70F6F}"/>
              </a:ext>
            </a:extLst>
          </p:cNvPr>
          <p:cNvSpPr/>
          <p:nvPr/>
        </p:nvSpPr>
        <p:spPr>
          <a:xfrm rot="90000">
            <a:off x="6985000" y="1524000"/>
            <a:ext cx="4445000" cy="2286000"/>
          </a:xfrm>
          <a:prstGeom prst="foldedCorner">
            <a:avLst/>
          </a:prstGeom>
          <a:solidFill>
            <a:srgbClr val="E9D5FF"/>
          </a:solidFill>
          <a:ln w="19050">
            <a:solidFill>
              <a:srgbClr val="933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27000" rIns="101600" rtlCol="0" anchor="ctr"/>
          <a:lstStyle/>
          <a:p>
            <a:pPr algn="ctr"/>
            <a:r>
              <a:rPr lang="es-ES" sz="1100" b="1">
                <a:solidFill>
                  <a:srgbClr val="0F172A"/>
                </a:solidFill>
                <a:latin typeface="Segoe Print" panose="02000600000000000000" pitchFamily="2" charset="0"/>
              </a:rPr>
              <a:t>OSOTASUN OSOA:
</a:t>
            </a:r>
            <a:r>
              <a:rPr lang="es-ES" sz="1000">
                <a:solidFill>
                  <a:srgbClr val="0F172A"/>
                </a:solidFill>
                <a:latin typeface="Segoe Print" panose="02000600000000000000" pitchFamily="2" charset="0"/>
              </a:rPr>
              <a:t>* Erreferentzia-osotasuna
  zorrotz behartuta!
* 13 Taulak guztiz konektatuta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D32202C-8778-9203-C860-0436B98D7EF3}"/>
              </a:ext>
            </a:extLst>
          </p:cNvPr>
          <p:cNvSpPr/>
          <p:nvPr/>
        </p:nvSpPr>
        <p:spPr>
          <a:xfrm rot="90000">
            <a:off x="8763000" y="1435100"/>
            <a:ext cx="889000" cy="2286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87BAD18-46A5-876B-E8D7-57FD5B612D81}"/>
              </a:ext>
            </a:extLst>
          </p:cNvPr>
          <p:cNvSpPr/>
          <p:nvPr/>
        </p:nvSpPr>
        <p:spPr>
          <a:xfrm rot="-150000">
            <a:off x="7493000" y="4318000"/>
            <a:ext cx="3429000" cy="76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fi-FI" sz="1000" b="1">
                <a:solidFill>
                  <a:srgbClr val="EA580C"/>
                </a:solidFill>
                <a:latin typeface="Segoe Print" panose="02000600000000000000" pitchFamily="2" charset="0"/>
              </a:rPr>
              <a:t>[ACCESS EREDU OSOA
13 TAULA MARTXAN]</a:t>
            </a:r>
            <a:endParaRPr lang="es-ES" sz="1000" b="1">
              <a:solidFill>
                <a:srgbClr val="EA580C"/>
              </a:solidFill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966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E68BF0-4596-130D-7C5B-244105F724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CDDC9A56-4BEA-1CD5-103E-CA7033ACE274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6F7A7055-C78B-30E5-D4B3-9B911490A082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D35B2D0-E5F5-DE17-C8CB-E1245F72BE9D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AF46635-4889-4035-0C73-986E037300E0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48805E4-9515-E0C2-B0A3-18CE2130D711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B6D787C-F780-0596-E71D-76593F604441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3. SISTEMAK (SISTEMA ERAGILEAK)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A0B4770-A3DD-9E56-484E-AEA3489D3810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Windows Server 2022 eta VirtualBox Ezarpena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1316510-8DF0-3914-A919-F2C67A8F2FEA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C8927C5-016C-6519-7FD8-1A36911F49D1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12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08DD2C4-011B-1017-6ACF-48737D471901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6246DE7-3C9D-7991-2762-038EEF7F1280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Zerbitzariaren Oinarria: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B3E49BA-0AFA-AA2B-DC3E-2497F4154241}"/>
              </a:ext>
            </a:extLst>
          </p:cNvPr>
          <p:cNvSpPr txBox="1"/>
          <p:nvPr/>
        </p:nvSpPr>
        <p:spPr>
          <a:xfrm>
            <a:off x="1079500" y="1866900"/>
            <a:ext cx="5143500" cy="2408352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Windows Server 2022 Standard (GUI)
* VirtualBox: 2 vCPU + 4 GB RAM
* Hostname: WIN-LGOQ4MVHH95
* IP estatiko finkoa: 192.168.70.21
* Instantanea (Snapshot): Leheneratze segurua
* 5 Disko birtual gehigarri RAIDetarako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EA8F15F-A2CF-DA20-DB2A-7F43AA345EC3}"/>
              </a:ext>
            </a:extLst>
          </p:cNvPr>
          <p:cNvSpPr/>
          <p:nvPr/>
        </p:nvSpPr>
        <p:spPr>
          <a:xfrm rot="90000">
            <a:off x="6731000" y="1270000"/>
            <a:ext cx="50165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5E72757-F194-097C-E5FE-6F28576735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">
            <a:off x="6858000" y="1397000"/>
            <a:ext cx="4762500" cy="4000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AEAF66E7-C222-F345-0DD9-1EA3134299E1}"/>
              </a:ext>
            </a:extLst>
          </p:cNvPr>
          <p:cNvSpPr txBox="1"/>
          <p:nvPr/>
        </p:nvSpPr>
        <p:spPr>
          <a:xfrm rot="90000">
            <a:off x="6832600" y="5445983"/>
            <a:ext cx="4813300" cy="192360"/>
          </a:xfrm>
          <a:prstGeom prst="rect">
            <a:avLst/>
          </a:prstGeom>
          <a:noFill/>
        </p:spPr>
        <p:txBody>
          <a:bodyPr vert="horz" wrap="square" lIns="25400" tIns="0" rtlCol="0">
            <a:spAutoFit/>
          </a:bodyPr>
          <a:lstStyle/>
          <a:p>
            <a:r>
              <a:rPr lang="es-ES" sz="950">
                <a:solidFill>
                  <a:srgbClr val="334155"/>
                </a:solidFill>
                <a:latin typeface="Segoe Print" panose="02000600000000000000" pitchFamily="2" charset="0"/>
              </a:rPr>
              <a:t>Server Manager eta IP finkoaren konfigurazioa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8474A31-3D22-489C-F6F4-69014B1D609B}"/>
              </a:ext>
            </a:extLst>
          </p:cNvPr>
          <p:cNvSpPr/>
          <p:nvPr/>
        </p:nvSpPr>
        <p:spPr>
          <a:xfrm rot="-810000">
            <a:off x="67945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7D8A0D8-CEDD-712D-96C3-4C47BA19578B}"/>
              </a:ext>
            </a:extLst>
          </p:cNvPr>
          <p:cNvSpPr/>
          <p:nvPr/>
        </p:nvSpPr>
        <p:spPr>
          <a:xfrm rot="990000">
            <a:off x="111760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3244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32959A8-C220-D72C-9712-ACBE5FAB67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833C146B-A56B-59B3-579F-A98D6FD3C7E1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4E7CECBD-C097-1C1E-098C-ED1B8FDAF3A0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EC2CD97-7BA2-F18B-B71F-13A461E93858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086356F-57AF-1065-44C5-51BFAFCA9FE7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5699E68-B325-DCB8-817C-EF514074D5A2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D1F954E-ADE9-D9A4-71B9-FD7D4A7A98D7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3. SISTEMAK (SISTEMA ERAGILEAK)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E67B135-57CB-E58B-8845-9BA07FBF53D9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Erabiltzaileak, Taldeak eta IIS Web Zerbitzaria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1C36299-AB21-223E-30C1-7C2675F008D3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140BDF2-F398-1EDC-C305-0AAAC2E53170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13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3F0D4D1-F6CC-C24F-33FD-7BB5D5D0D456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02DD1836-1F23-084C-1445-B507A9B1EB62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BAE6FD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Erabiltzaileak eta IIS: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F729E45-30F5-A043-3E20-5E323DB30FEA}"/>
              </a:ext>
            </a:extLst>
          </p:cNvPr>
          <p:cNvSpPr txBox="1"/>
          <p:nvPr/>
        </p:nvSpPr>
        <p:spPr>
          <a:xfrm>
            <a:off x="1079500" y="1866900"/>
            <a:ext cx="5143500" cy="1992853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Erabiltzaileak: Alex, Axular, Iker, Jokin
* Talde lokalak: erabiltzaileak eta premium
* IIS intranet gunea: Portua TCP 8080
* Suebakia: 8080 sarrera-araua baimenduta
* Egiaztatua: PCtik eta mugikorretik ikusgai!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641B9B6-94E1-4355-B3E9-76321A0C72EC}"/>
              </a:ext>
            </a:extLst>
          </p:cNvPr>
          <p:cNvSpPr/>
          <p:nvPr/>
        </p:nvSpPr>
        <p:spPr>
          <a:xfrm rot="60000">
            <a:off x="6731000" y="1270000"/>
            <a:ext cx="50165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FE50F9E-E593-DB1F-13A6-4BD6E3A0159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000">
            <a:off x="6858000" y="1397000"/>
            <a:ext cx="4762500" cy="4000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50BC99DE-788E-485D-E111-5B77577E9D29}"/>
              </a:ext>
            </a:extLst>
          </p:cNvPr>
          <p:cNvSpPr txBox="1"/>
          <p:nvPr/>
        </p:nvSpPr>
        <p:spPr>
          <a:xfrm rot="60000">
            <a:off x="6832600" y="5445983"/>
            <a:ext cx="4813300" cy="192360"/>
          </a:xfrm>
          <a:prstGeom prst="rect">
            <a:avLst/>
          </a:prstGeom>
          <a:noFill/>
        </p:spPr>
        <p:txBody>
          <a:bodyPr vert="horz" wrap="square" lIns="25400" tIns="0" rtlCol="0">
            <a:spAutoFit/>
          </a:bodyPr>
          <a:lstStyle/>
          <a:p>
            <a:r>
              <a:rPr lang="es-ES" sz="950">
                <a:solidFill>
                  <a:srgbClr val="334155"/>
                </a:solidFill>
                <a:latin typeface="Segoe Print" panose="02000600000000000000" pitchFamily="2" charset="0"/>
              </a:rPr>
              <a:t>IIS intranet gunea 8080 atakan konfiguratuta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4418DDE-EE07-98D8-4FE3-0E1260754A48}"/>
              </a:ext>
            </a:extLst>
          </p:cNvPr>
          <p:cNvSpPr/>
          <p:nvPr/>
        </p:nvSpPr>
        <p:spPr>
          <a:xfrm rot="-840000">
            <a:off x="67945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75E4920-93A5-3717-C137-68E2254F6DA6}"/>
              </a:ext>
            </a:extLst>
          </p:cNvPr>
          <p:cNvSpPr/>
          <p:nvPr/>
        </p:nvSpPr>
        <p:spPr>
          <a:xfrm rot="960000">
            <a:off x="111760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657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2DB3FE7-C1A0-3E6E-F072-DA1E5AB8FA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FF288057-2A9D-EC80-50DC-5444C0867FDC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B59F4703-2447-7470-4D60-DAAC2D7B8531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A496017-E809-E064-3F43-1DCBDD4FD272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F90ED33-E0D3-3EBF-5525-247428057F73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DE5A87C-972D-C4BB-1464-99B27F3051B1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ABD1AD6-03C4-A508-90F8-087439A877C3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3. SISTEMAK (SISTEMA ERAGILEAK)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3755CDA-8D2B-DFD3-4608-6032CC23CA42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Tokiko Segurtasun Politikak (secpol.msc)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65FBFD1-3318-07C2-7A13-85A53EDE62B9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F8B828F-30B5-EB81-7955-A91B108B9A02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14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4B9EE8F-9027-3B4D-D50C-105A8B16F592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0650F417-9B75-0DAA-EB14-B2CB17096B2C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Segurtasun Politikak: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6FC2EF9-7715-510A-3013-5D44CA77491B}"/>
              </a:ext>
            </a:extLst>
          </p:cNvPr>
          <p:cNvSpPr txBox="1"/>
          <p:nvPr/>
        </p:nvSpPr>
        <p:spPr>
          <a:xfrm>
            <a:off x="1079500" y="1866900"/>
            <a:ext cx="5143500" cy="1992853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Konplexutasuna: Gaituta (Maius + Zbk)
* Gutxieneko luzera: 8 karaktere ('Kuper-67')
* Iraungipena: 90 egun
* Kontu-blokeoa: 5 saiakera oker
* Blokeo-denbora: 15 minutu (Brute-Force aurka)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83CE369-8BAE-5B22-9E77-A6DE8B05629C}"/>
              </a:ext>
            </a:extLst>
          </p:cNvPr>
          <p:cNvSpPr/>
          <p:nvPr/>
        </p:nvSpPr>
        <p:spPr>
          <a:xfrm rot="90000">
            <a:off x="6731000" y="1270000"/>
            <a:ext cx="50165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B363331-1F80-F4AD-7240-5653691D39D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">
            <a:off x="6858000" y="1397000"/>
            <a:ext cx="4762500" cy="4000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2CFE053A-4952-46E9-8FF9-586F2727563C}"/>
              </a:ext>
            </a:extLst>
          </p:cNvPr>
          <p:cNvSpPr txBox="1"/>
          <p:nvPr/>
        </p:nvSpPr>
        <p:spPr>
          <a:xfrm rot="90000">
            <a:off x="6832600" y="5445983"/>
            <a:ext cx="4813300" cy="192360"/>
          </a:xfrm>
          <a:prstGeom prst="rect">
            <a:avLst/>
          </a:prstGeom>
          <a:noFill/>
        </p:spPr>
        <p:txBody>
          <a:bodyPr vert="horz" wrap="square" lIns="25400" tIns="0" rtlCol="0">
            <a:spAutoFit/>
          </a:bodyPr>
          <a:lstStyle/>
          <a:p>
            <a:r>
              <a:rPr lang="es-ES" sz="950">
                <a:solidFill>
                  <a:srgbClr val="334155"/>
                </a:solidFill>
                <a:latin typeface="Segoe Print" panose="02000600000000000000" pitchFamily="2" charset="0"/>
              </a:rPr>
              <a:t>Pasahitz eta kontu-blokeo politikak secpol-en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0E82F79-90CA-3532-1691-306394866318}"/>
              </a:ext>
            </a:extLst>
          </p:cNvPr>
          <p:cNvSpPr/>
          <p:nvPr/>
        </p:nvSpPr>
        <p:spPr>
          <a:xfrm rot="-810000">
            <a:off x="67945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A09DC80-577F-53A5-DF4D-6C13306573A4}"/>
              </a:ext>
            </a:extLst>
          </p:cNvPr>
          <p:cNvSpPr/>
          <p:nvPr/>
        </p:nvSpPr>
        <p:spPr>
          <a:xfrm rot="990000">
            <a:off x="111760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7951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674DA84-1778-FB8B-9FF3-F09688899F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7A044CED-6B5F-8549-05C2-705FC88482DD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2044ABC0-4270-492F-237D-A375625A9D0C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BECC3E0-179D-486C-BECE-0C8DC093B517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ED2CDC8-B11D-81CF-C1DC-9B5D754C9335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7AA120F-8FEE-1D17-9838-5CBF11AAAF71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B67273B-C6BA-3E84-191D-B3DE989F7B99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3. SISTEMAK (SISTEMA ERAGILEAK)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64C1DF6-38E9-8CD1-7477-9F35D42F1683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Disko Dinamikoak, RAID-1, RAID-5 eta Babeskopiak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DE4DC7-CFBA-5CF1-B119-63C19E195B35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AB76748-3C7B-3575-2353-EF777A5048C0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15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26F1EDD-0C03-9365-6B2F-99E18F797A5D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6F33F87-53CB-8AF9-AC45-6F4DBB78AFDA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Datuen Babes Bikoitza: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FB39470-8BF3-BC60-FD2E-BA9B874A1BDF}"/>
              </a:ext>
            </a:extLst>
          </p:cNvPr>
          <p:cNvSpPr txBox="1"/>
          <p:nvPr/>
        </p:nvSpPr>
        <p:spPr>
          <a:xfrm>
            <a:off x="1079500" y="1866900"/>
            <a:ext cx="5143500" cy="1992853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RAID-1: 2 disko (Ispilua - 4.98 GB)
  - Disko bat hautsita ere webgunea martxan!
* RAID-5: 3 disko (Paritatea - 9.96 GB)
* Backup automatikoa: Egunero 9:00etan
* DRP Plana: Bare-Metal eta System State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F396F76-C80A-36EC-4D68-576CAEEC5E17}"/>
              </a:ext>
            </a:extLst>
          </p:cNvPr>
          <p:cNvSpPr/>
          <p:nvPr/>
        </p:nvSpPr>
        <p:spPr>
          <a:xfrm rot="60000">
            <a:off x="6731000" y="1270000"/>
            <a:ext cx="50165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D8CA25C-9F27-20E6-C9FC-BC2A3DCD50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000">
            <a:off x="6858000" y="1397000"/>
            <a:ext cx="4762500" cy="4000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7FDAC565-4A5E-70B8-DA13-95D842D4EBFF}"/>
              </a:ext>
            </a:extLst>
          </p:cNvPr>
          <p:cNvSpPr txBox="1"/>
          <p:nvPr/>
        </p:nvSpPr>
        <p:spPr>
          <a:xfrm rot="60000">
            <a:off x="6832600" y="5445983"/>
            <a:ext cx="4813300" cy="192360"/>
          </a:xfrm>
          <a:prstGeom prst="rect">
            <a:avLst/>
          </a:prstGeom>
          <a:noFill/>
        </p:spPr>
        <p:txBody>
          <a:bodyPr vert="horz" wrap="square" lIns="25400" tIns="0" rtlCol="0">
            <a:spAutoFit/>
          </a:bodyPr>
          <a:lstStyle/>
          <a:p>
            <a:r>
              <a:rPr lang="sv-SE" sz="950">
                <a:solidFill>
                  <a:srgbClr val="334155"/>
                </a:solidFill>
                <a:latin typeface="Segoe Print" panose="02000600000000000000" pitchFamily="2" charset="0"/>
              </a:rPr>
              <a:t>RAID-1 eta RAID-5 bolumenak diskmgmt-en</a:t>
            </a:r>
            <a:endParaRPr lang="es-ES" sz="950">
              <a:solidFill>
                <a:srgbClr val="334155"/>
              </a:solidFill>
              <a:latin typeface="Segoe Print" panose="02000600000000000000" pitchFamily="2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1421CF4-04D2-56B6-F2AE-1FCF64E42063}"/>
              </a:ext>
            </a:extLst>
          </p:cNvPr>
          <p:cNvSpPr/>
          <p:nvPr/>
        </p:nvSpPr>
        <p:spPr>
          <a:xfrm rot="-840000">
            <a:off x="67945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CFA0E26-2810-C55C-F096-5BC7212C4842}"/>
              </a:ext>
            </a:extLst>
          </p:cNvPr>
          <p:cNvSpPr/>
          <p:nvPr/>
        </p:nvSpPr>
        <p:spPr>
          <a:xfrm rot="960000">
            <a:off x="111760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8936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733C0E6-BB0F-3B22-1DA0-B252913969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F234F7EE-2907-BDB8-5894-8AFF3DD82250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01DC83C2-70B7-F2C9-0477-12AB0FE7388F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18B352C-7757-1162-222B-B539F15D7918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AD30600-F28F-28C9-553E-3E68FADF2BA9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9695197-4F1B-C882-1F5A-C4FDBB597D72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61473BE-E5F3-4967-2B0C-BF74EED44C36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4. DIGITALIZAZIOA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A0F4F0-AC3F-67FC-A2DD-483349F13B98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Digitalizazioaren Eragina eta IT/OT Konbergentzia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703E243-7032-1677-A6D3-A74E5DDDBE70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4B5224E-785B-D10C-29F7-DE645A94EC24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16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1BFEB97-EC42-A07B-DE2A-8187AABC6879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187F3CA-95B1-2036-5A9E-5A5C16B3EE79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BAE6FD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IT eta OT Ereduak: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E9C4E09-57B0-DC85-110F-E60792C2D64F}"/>
              </a:ext>
            </a:extLst>
          </p:cNvPr>
          <p:cNvSpPr txBox="1"/>
          <p:nvPr/>
        </p:nvSpPr>
        <p:spPr>
          <a:xfrm>
            <a:off x="1079500" y="1866900"/>
            <a:ext cx="5143500" cy="1577355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IT: Datuak, aplikazioak, CIA segurtasuna
* OT: Kableak, gailu fisikoak, 24/7 jarraitutasuna
* Konbergentzia: Kable fisikoa (OT) + Zerbitzaria (IT)
* 3 Sektoreetan aplikatuta (Industria 4.0 barne)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AD09C36-6EF1-1F86-2E91-37C2D89629B3}"/>
              </a:ext>
            </a:extLst>
          </p:cNvPr>
          <p:cNvSpPr/>
          <p:nvPr/>
        </p:nvSpPr>
        <p:spPr>
          <a:xfrm rot="90000">
            <a:off x="6731000" y="1270000"/>
            <a:ext cx="50165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A53B8D9-E7B9-BC78-CD2D-245FD6E3DF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">
            <a:off x="6858000" y="1397000"/>
            <a:ext cx="4762500" cy="4000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880E508C-9BAC-3B24-18D8-F50794AD9B8A}"/>
              </a:ext>
            </a:extLst>
          </p:cNvPr>
          <p:cNvSpPr txBox="1"/>
          <p:nvPr/>
        </p:nvSpPr>
        <p:spPr>
          <a:xfrm rot="90000">
            <a:off x="6832600" y="5445983"/>
            <a:ext cx="4813300" cy="192360"/>
          </a:xfrm>
          <a:prstGeom prst="rect">
            <a:avLst/>
          </a:prstGeom>
          <a:noFill/>
        </p:spPr>
        <p:txBody>
          <a:bodyPr vert="horz" wrap="square" lIns="25400" tIns="0" rtlCol="0">
            <a:spAutoFit/>
          </a:bodyPr>
          <a:lstStyle/>
          <a:p>
            <a:r>
              <a:rPr lang="es-ES" sz="950">
                <a:solidFill>
                  <a:srgbClr val="334155"/>
                </a:solidFill>
                <a:latin typeface="Segoe Print" panose="02000600000000000000" pitchFamily="2" charset="0"/>
              </a:rPr>
              <a:t>IT eta OT konbergentzia gure erronkan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1781B2A-4BDE-0B7B-42FB-BA3F01684C98}"/>
              </a:ext>
            </a:extLst>
          </p:cNvPr>
          <p:cNvSpPr/>
          <p:nvPr/>
        </p:nvSpPr>
        <p:spPr>
          <a:xfrm rot="-810000">
            <a:off x="67945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DE3C196-6FB7-8073-CAC6-A8EC7C66ADA3}"/>
              </a:ext>
            </a:extLst>
          </p:cNvPr>
          <p:cNvSpPr/>
          <p:nvPr/>
        </p:nvSpPr>
        <p:spPr>
          <a:xfrm rot="990000">
            <a:off x="111760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1280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9E5A8C0-783D-75A5-28BF-342781E95E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35BCBD51-5A8A-44D9-9D96-10E8C5E91690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E186A9E1-2D87-927C-F3C8-6EA7079C6238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A3CE487-0977-7B57-71C8-92E5517FDBA5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C99EDFE-E6BB-9409-A8A3-1C4808447D0A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DC7E468-B9B5-C5B5-B613-83B32AF04640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F35F9F4-CEF4-3BC6-9897-C78F44CEB93B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4. DIGITALIZAZIOA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856F444-7911-5C8D-D11D-065200BAAAF2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Teknologia Gaitzaile Digitalak (THD / TGD)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8F2E2B5-780C-7AF3-F9DF-399B80DACD99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9246959-DF98-9CD5-AB2F-A337CDB4B481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17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BF8BBB6-4010-A135-359D-75A810770EEB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FA316C39-1D52-C288-C964-A88493D83743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TGD Aplikazioa Sareflix-en: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AD936B9-5510-98AB-1B02-1471D7B5B966}"/>
              </a:ext>
            </a:extLst>
          </p:cNvPr>
          <p:cNvSpPr txBox="1"/>
          <p:nvPr/>
        </p:nvSpPr>
        <p:spPr>
          <a:xfrm>
            <a:off x="1079500" y="1866900"/>
            <a:ext cx="5143500" cy="1992853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11 TGD Nagusiak (Cloud, AI, IoT, Big Data...)
* AI: Gomendio pertsonalizatuak rolaren arabera
* Big Data: Ikustaldi-minutuen analisia
* Zibersegurtasuna: Pasahitzak eta blokeoak
* IoT: Edozein gailutatik streaming-a</a:t>
            </a:r>
          </a:p>
        </p:txBody>
      </p:sp>
      <p:sp>
        <p:nvSpPr>
          <p:cNvPr id="15" name="Rectángulo: esquina doblada 14">
            <a:extLst>
              <a:ext uri="{FF2B5EF4-FFF2-40B4-BE49-F238E27FC236}">
                <a16:creationId xmlns:a16="http://schemas.microsoft.com/office/drawing/2014/main" id="{10AB39D3-BFF7-306B-942A-BB5CC6A6F6E9}"/>
              </a:ext>
            </a:extLst>
          </p:cNvPr>
          <p:cNvSpPr/>
          <p:nvPr/>
        </p:nvSpPr>
        <p:spPr>
          <a:xfrm rot="90000">
            <a:off x="6985000" y="1460500"/>
            <a:ext cx="4445000" cy="2540000"/>
          </a:xfrm>
          <a:prstGeom prst="foldedCorner">
            <a:avLst/>
          </a:prstGeom>
          <a:solidFill>
            <a:srgbClr val="E9D5FF"/>
          </a:solidFill>
          <a:ln w="19050">
            <a:solidFill>
              <a:srgbClr val="933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27000" rIns="101600" rtlCol="0" anchor="ctr"/>
          <a:lstStyle/>
          <a:p>
            <a:pPr algn="ctr"/>
            <a:r>
              <a:rPr lang="es-ES" sz="1100" b="1">
                <a:solidFill>
                  <a:srgbClr val="0F172A"/>
                </a:solidFill>
                <a:latin typeface="Segoe Print" panose="02000600000000000000" pitchFamily="2" charset="0"/>
              </a:rPr>
              <a:t>INDUSTRIA 4.0:
</a:t>
            </a:r>
            <a:r>
              <a:rPr lang="es-ES" sz="1000">
                <a:solidFill>
                  <a:srgbClr val="0F172A"/>
                </a:solidFill>
                <a:latin typeface="Segoe Print" panose="02000600000000000000" pitchFamily="2" charset="0"/>
              </a:rPr>
              <a:t>11 TGD Nagusiak:
Cloud - Big Data - IoT
AI - Zibersegurtasuna
Cobot - Digital Twin
AR/VR - 3D Inprimaketa
Blockchain - Edge Comp.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2A0804D-47C1-1E0E-C3EE-F037EDCC2FE0}"/>
              </a:ext>
            </a:extLst>
          </p:cNvPr>
          <p:cNvSpPr/>
          <p:nvPr/>
        </p:nvSpPr>
        <p:spPr>
          <a:xfrm rot="90000">
            <a:off x="8763000" y="1371600"/>
            <a:ext cx="889000" cy="2286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A35E441-AE36-4233-3FEF-494D4282DD00}"/>
              </a:ext>
            </a:extLst>
          </p:cNvPr>
          <p:cNvSpPr/>
          <p:nvPr/>
        </p:nvSpPr>
        <p:spPr>
          <a:xfrm rot="-180000">
            <a:off x="7493000" y="4508500"/>
            <a:ext cx="3429000" cy="76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s-ES" sz="1000" b="1">
                <a:solidFill>
                  <a:srgbClr val="16A34A"/>
                </a:solidFill>
                <a:latin typeface="Segoe Print" panose="02000600000000000000" pitchFamily="2" charset="0"/>
              </a:rPr>
              <a:t>[INDUSTRIA 4.0
TEKNOLOGIA GAITZAILEAK]</a:t>
            </a:r>
          </a:p>
        </p:txBody>
      </p:sp>
    </p:spTree>
    <p:extLst>
      <p:ext uri="{BB962C8B-B14F-4D97-AF65-F5344CB8AC3E}">
        <p14:creationId xmlns:p14="http://schemas.microsoft.com/office/powerpoint/2010/main" val="2610645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A25F6FE-1191-AFC8-FFF3-969807C586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B009FEB-EB88-958B-AF44-E6DE9054EEC4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D99BC896-9EB8-84BB-D478-71B4471BBD9B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AABCF95-7CB4-5FF8-F6EC-E4EAB27BDB56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D176CB5-24A3-E7AB-7271-F00171C9455C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F5BBD78-F714-3532-FBE4-48305B9878CE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98EF0C4-94E2-2A0E-2F82-FC4003DD3BB4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4. DIGITALIZAZIOA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AB4EC8F-530E-250F-8494-CADD96DD6007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Cloud Computing: Zerbitzu eta Hedapen Ereduak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E1B7281-584F-ECC5-250D-D01803FC67C5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4A5CB4E-2127-613E-E910-35ABFCED2BEA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18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BDF37BD-B43F-4818-8258-198710BF4BC7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67A385A-2D1B-CB59-D040-B54318D24D27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FEF08A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Cloud Ereduak: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2E717C7-3E9E-3746-480F-70060D5D1C72}"/>
              </a:ext>
            </a:extLst>
          </p:cNvPr>
          <p:cNvSpPr txBox="1"/>
          <p:nvPr/>
        </p:nvSpPr>
        <p:spPr>
          <a:xfrm>
            <a:off x="1079500" y="1866900"/>
            <a:ext cx="5143500" cy="1577355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IaaS: WinServer makina birtuala eta diskoak
* PaaS: Garapen-ingurunea eta GitHub Pages
* SaaS: Sareflix web streaming aplikazioa
* Eredu Hibridoa: Lokala (pribatua) + Hodeia (publikoa)</a:t>
            </a:r>
          </a:p>
        </p:txBody>
      </p:sp>
      <p:sp>
        <p:nvSpPr>
          <p:cNvPr id="15" name="Rectángulo: esquina doblada 14">
            <a:extLst>
              <a:ext uri="{FF2B5EF4-FFF2-40B4-BE49-F238E27FC236}">
                <a16:creationId xmlns:a16="http://schemas.microsoft.com/office/drawing/2014/main" id="{C22711A5-788D-2AE0-4286-4C2F5811AC8E}"/>
              </a:ext>
            </a:extLst>
          </p:cNvPr>
          <p:cNvSpPr/>
          <p:nvPr/>
        </p:nvSpPr>
        <p:spPr>
          <a:xfrm rot="90000">
            <a:off x="6985000" y="1651000"/>
            <a:ext cx="4445000" cy="2159000"/>
          </a:xfrm>
          <a:prstGeom prst="foldedCorner">
            <a:avLst/>
          </a:prstGeom>
          <a:solidFill>
            <a:srgbClr val="BBF7D0"/>
          </a:solidFill>
          <a:ln w="1905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27000" rIns="101600" rtlCol="0" anchor="ctr"/>
          <a:lstStyle/>
          <a:p>
            <a:pPr algn="ctr"/>
            <a:r>
              <a:rPr lang="sv-SE" sz="1100" b="1">
                <a:solidFill>
                  <a:srgbClr val="0F172A"/>
                </a:solidFill>
                <a:latin typeface="Segoe Print" panose="02000600000000000000" pitchFamily="2" charset="0"/>
              </a:rPr>
              <a:t>ARKITEKTURA MALGUA:
</a:t>
            </a:r>
            <a:r>
              <a:rPr lang="sv-SE" sz="1000">
                <a:solidFill>
                  <a:srgbClr val="0F172A"/>
                </a:solidFill>
                <a:latin typeface="Segoe Print" panose="02000600000000000000" pitchFamily="2" charset="0"/>
              </a:rPr>
              <a:t>* Cloud Hibridoaren Abantaila:
  Datu sentikorrak lokalean babestuta
  eta eskalagarritasuna hodei publikoan!</a:t>
            </a:r>
            <a:endParaRPr lang="es-ES" sz="1000">
              <a:solidFill>
                <a:srgbClr val="0F172A"/>
              </a:solidFill>
              <a:latin typeface="Segoe Print" panose="02000600000000000000" pitchFamily="2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A1703FD-DA23-278E-81EC-6D550112076E}"/>
              </a:ext>
            </a:extLst>
          </p:cNvPr>
          <p:cNvSpPr/>
          <p:nvPr/>
        </p:nvSpPr>
        <p:spPr>
          <a:xfrm rot="90000">
            <a:off x="8763000" y="1562100"/>
            <a:ext cx="889000" cy="2286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A8C1AAC-3989-3FD6-53D2-FEB7F3CC8CB1}"/>
              </a:ext>
            </a:extLst>
          </p:cNvPr>
          <p:cNvSpPr/>
          <p:nvPr/>
        </p:nvSpPr>
        <p:spPr>
          <a:xfrm rot="-150000">
            <a:off x="7493000" y="4318000"/>
            <a:ext cx="3429000" cy="76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s-ES" sz="1000" b="1">
                <a:solidFill>
                  <a:srgbClr val="EA580C"/>
                </a:solidFill>
                <a:latin typeface="Segoe Print" panose="02000600000000000000" pitchFamily="2" charset="0"/>
              </a:rPr>
              <a:t>[HODEI HIBRIDOA
PRIBATUA + PUBLIKOA]</a:t>
            </a:r>
          </a:p>
        </p:txBody>
      </p:sp>
    </p:spTree>
    <p:extLst>
      <p:ext uri="{BB962C8B-B14F-4D97-AF65-F5344CB8AC3E}">
        <p14:creationId xmlns:p14="http://schemas.microsoft.com/office/powerpoint/2010/main" val="1719980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2AD9220-16E7-734D-9510-B652B244AF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55E0AA27-E208-AC18-86DE-0C293BEFCBBA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983ECD98-3CD8-D0EF-56CD-5D0715DD3520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C4A0F6F-5F4F-12C1-2F24-90FE0D422556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20C2CDA-D0E0-F657-E76D-2DD3B57F77E2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DF0361D-5CE9-01B2-6CF9-D1FB7F5312DF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7FB3A23-D324-930C-5821-C013E5D3749C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5. MARKATZE LENGOAIAK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FA4B7C-50AD-4DFA-C0DF-6FC754A09A07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sv-SE" sz="2000" b="1">
                <a:solidFill>
                  <a:srgbClr val="0F172A"/>
                </a:solidFill>
                <a:latin typeface="Segoe Print" panose="02000600000000000000" pitchFamily="2" charset="0"/>
              </a:rPr>
              <a:t>Webgunearen Garapen Teknikoa eta HTML5 Semantika</a:t>
            </a:r>
            <a:endParaRPr lang="es-ES" sz="2000" b="1">
              <a:solidFill>
                <a:srgbClr val="0F172A"/>
              </a:solidFill>
              <a:latin typeface="Segoe Print" panose="02000600000000000000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3AD199A-F9AC-FA49-E66A-A3F8BC6C4C2C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4496E5F-E3BE-2F3A-92FC-64F68F20514D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19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F0C5C1E-6ACF-B952-58FE-0BC690D652EF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51925D6-8C0E-6E17-7EFA-D0DE858C03FD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HTML5 Egitura: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287904A-1062-79A2-696F-2D615896BFE5}"/>
              </a:ext>
            </a:extLst>
          </p:cNvPr>
          <p:cNvSpPr txBox="1"/>
          <p:nvPr/>
        </p:nvSpPr>
        <p:spPr>
          <a:xfrm>
            <a:off x="1079500" y="1866900"/>
            <a:ext cx="5143500" cy="1992853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5 Orri modular (index, sareak, digitalizazioa...)
* Semantika garbia: header, nav, main, footer
* Menu finkoa: position: sticky
* Orri aktiboa: .aktiboa gorriz nabarmenduta
* Datu-taulak: table gelaxka garbiekin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4D4582E-8AC2-576B-2782-874922C49F44}"/>
              </a:ext>
            </a:extLst>
          </p:cNvPr>
          <p:cNvSpPr/>
          <p:nvPr/>
        </p:nvSpPr>
        <p:spPr>
          <a:xfrm rot="90000">
            <a:off x="6731000" y="1270000"/>
            <a:ext cx="50165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83F3C26-7FBA-9BD0-4A0A-E235F6AC9CF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">
            <a:off x="6858000" y="1397000"/>
            <a:ext cx="4762500" cy="4000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FC4FE53F-85F9-8998-53DB-E8E4AF76317E}"/>
              </a:ext>
            </a:extLst>
          </p:cNvPr>
          <p:cNvSpPr txBox="1"/>
          <p:nvPr/>
        </p:nvSpPr>
        <p:spPr>
          <a:xfrm rot="90000">
            <a:off x="6832600" y="5445983"/>
            <a:ext cx="4813300" cy="192360"/>
          </a:xfrm>
          <a:prstGeom prst="rect">
            <a:avLst/>
          </a:prstGeom>
          <a:noFill/>
        </p:spPr>
        <p:txBody>
          <a:bodyPr vert="horz" wrap="square" lIns="25400" tIns="0" rtlCol="0">
            <a:spAutoFit/>
          </a:bodyPr>
          <a:lstStyle/>
          <a:p>
            <a:r>
              <a:rPr lang="es-ES" sz="950">
                <a:solidFill>
                  <a:srgbClr val="334155"/>
                </a:solidFill>
                <a:latin typeface="Segoe Print" panose="02000600000000000000" pitchFamily="2" charset="0"/>
              </a:rPr>
              <a:t>Gure HTML5 webgunearen hasierako orria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0BC702A-444D-D54E-64CC-467674EB08E5}"/>
              </a:ext>
            </a:extLst>
          </p:cNvPr>
          <p:cNvSpPr/>
          <p:nvPr/>
        </p:nvSpPr>
        <p:spPr>
          <a:xfrm rot="-810000">
            <a:off x="67945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66E6409-446A-D00A-1C5F-820BA1F41907}"/>
              </a:ext>
            </a:extLst>
          </p:cNvPr>
          <p:cNvSpPr/>
          <p:nvPr/>
        </p:nvSpPr>
        <p:spPr>
          <a:xfrm rot="990000">
            <a:off x="111760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7527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ECE0D65-D49B-EE3C-ECB5-CB21EECEC1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FB9FD931-0CC1-78F2-0966-7D5156D6E75C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B94EC618-B2BE-6EFD-DD7F-D622F66C8A8F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421EB2F-037B-19BD-1048-B0173AADEE85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2FAA9F2A-73F6-F04B-4DC4-DBB35757D504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0EA6D59-45BA-45F7-C957-17C951F1BD6D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E5EA749-25BE-D874-DC5E-A9A103AD5932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5. MARKATZE LENGOAIAK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07D8D47-7077-F1A0-89AB-1057B86B7274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CSS3 Estilo Sistema eta Diseinu Erantzunkorra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2416A5C-8C78-F9F5-89A2-5563A89D38B9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C9B7C10-4CCE-41DB-DBFE-F54FF39BE631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20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E487BAF-57B4-2D57-3BCA-F3F913B7FB94}"/>
              </a:ext>
            </a:extLst>
          </p:cNvPr>
          <p:cNvSpPr/>
          <p:nvPr/>
        </p:nvSpPr>
        <p:spPr>
          <a:xfrm>
            <a:off x="952500" y="1333500"/>
            <a:ext cx="5397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3211FC0-B715-E039-6778-3DF23E73BAEE}"/>
              </a:ext>
            </a:extLst>
          </p:cNvPr>
          <p:cNvSpPr/>
          <p:nvPr/>
        </p:nvSpPr>
        <p:spPr>
          <a:xfrm>
            <a:off x="977900" y="1358900"/>
            <a:ext cx="5346700" cy="431800"/>
          </a:xfrm>
          <a:prstGeom prst="roundRect">
            <a:avLst/>
          </a:prstGeom>
          <a:solidFill>
            <a:srgbClr val="FBCFE8"/>
          </a:solidFill>
          <a:ln w="12700">
            <a:solidFill>
              <a:srgbClr val="DB2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CSS3 Diseinua: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828DD0C-251D-50E0-BFFC-A56DF9BB48C7}"/>
              </a:ext>
            </a:extLst>
          </p:cNvPr>
          <p:cNvSpPr txBox="1"/>
          <p:nvPr/>
        </p:nvSpPr>
        <p:spPr>
          <a:xfrm>
            <a:off x="1079500" y="1866900"/>
            <a:ext cx="5143500" cy="1577355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50">
                <a:solidFill>
                  <a:srgbClr val="334155"/>
                </a:solidFill>
                <a:latin typeface="Segoe Print" panose="02000600000000000000" pitchFamily="2" charset="0"/>
              </a:rPr>
              <a:t>* Netflix estilo iluna: #141414 + #e50914
* Maketazioa: Flexbox eta CSS Grid
* Responsive: @media (max-width: 768px)
* Multi-gailu: PC, tablet eta mugikorretan bikain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3CE46F-2BB7-9F81-24B7-35C46B81D1D8}"/>
              </a:ext>
            </a:extLst>
          </p:cNvPr>
          <p:cNvSpPr/>
          <p:nvPr/>
        </p:nvSpPr>
        <p:spPr>
          <a:xfrm rot="60000">
            <a:off x="6731000" y="1270000"/>
            <a:ext cx="5016500" cy="463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B03FD57-0C4F-BD6C-073E-43C361F00F2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000">
            <a:off x="6858000" y="1397000"/>
            <a:ext cx="4762500" cy="40005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1839E82F-57F8-6D68-A79D-EBE3329284A5}"/>
              </a:ext>
            </a:extLst>
          </p:cNvPr>
          <p:cNvSpPr txBox="1"/>
          <p:nvPr/>
        </p:nvSpPr>
        <p:spPr>
          <a:xfrm rot="60000">
            <a:off x="6832600" y="5445983"/>
            <a:ext cx="4813300" cy="192360"/>
          </a:xfrm>
          <a:prstGeom prst="rect">
            <a:avLst/>
          </a:prstGeom>
          <a:noFill/>
        </p:spPr>
        <p:txBody>
          <a:bodyPr vert="horz" wrap="square" lIns="25400" tIns="0" rtlCol="0">
            <a:spAutoFit/>
          </a:bodyPr>
          <a:lstStyle/>
          <a:p>
            <a:r>
              <a:rPr lang="es-ES" sz="950">
                <a:solidFill>
                  <a:srgbClr val="334155"/>
                </a:solidFill>
                <a:latin typeface="Segoe Print" panose="02000600000000000000" pitchFamily="2" charset="0"/>
              </a:rPr>
              <a:t>CSS3 estiloko datu-base taulak eta diseinu iluna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1E5A7FD-6734-2965-BBEF-FD62582CDB20}"/>
              </a:ext>
            </a:extLst>
          </p:cNvPr>
          <p:cNvSpPr/>
          <p:nvPr/>
        </p:nvSpPr>
        <p:spPr>
          <a:xfrm rot="-840000">
            <a:off x="67945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DECC405-1601-CDCB-9251-1C08A6E1D3C0}"/>
              </a:ext>
            </a:extLst>
          </p:cNvPr>
          <p:cNvSpPr/>
          <p:nvPr/>
        </p:nvSpPr>
        <p:spPr>
          <a:xfrm rot="960000">
            <a:off x="11176000" y="1193800"/>
            <a:ext cx="571500" cy="1778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6067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525ECA4-826A-1EE6-6637-259C7C15D1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ECBD295C-AB6F-AF59-4C03-607A075B857A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21FDDB48-C3DB-BD80-042C-F2BEC1B4020E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11655B5-E3D5-4C26-B335-710364A5D36B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C006197-6342-52BB-84EA-A6B9213F3453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7255DBB-53A0-C9B2-1DB3-36184B5A603A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7A6B74D-A02A-2E6A-D193-71796AADFF5B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6. TALDEA ETA PLANIFIKAZIOA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6280106-F700-D1EE-BF7C-AC94ACF741EA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es-ES" sz="2000" b="1">
                <a:solidFill>
                  <a:srgbClr val="0F172A"/>
                </a:solidFill>
                <a:latin typeface="Segoe Print" panose="02000600000000000000" pitchFamily="2" charset="0"/>
              </a:rPr>
              <a:t>Taldekideen Rolak eta Planifikazio Digitala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10E34AB-9D24-D500-78D2-FF4852C7C56A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E82E946-690A-0E10-43A9-6C53130A520A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21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D07F489-B87F-B9C7-CE19-449D594DF120}"/>
              </a:ext>
            </a:extLst>
          </p:cNvPr>
          <p:cNvSpPr/>
          <p:nvPr/>
        </p:nvSpPr>
        <p:spPr>
          <a:xfrm>
            <a:off x="952500" y="1333500"/>
            <a:ext cx="5524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34E12CF-4B85-790B-B5B8-6C55A316C62B}"/>
              </a:ext>
            </a:extLst>
          </p:cNvPr>
          <p:cNvSpPr/>
          <p:nvPr/>
        </p:nvSpPr>
        <p:spPr>
          <a:xfrm>
            <a:off x="977900" y="1358900"/>
            <a:ext cx="5473700" cy="431800"/>
          </a:xfrm>
          <a:prstGeom prst="roundRect">
            <a:avLst/>
          </a:prstGeom>
          <a:solidFill>
            <a:srgbClr val="BAE6FD"/>
          </a:solidFill>
          <a:ln w="127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Taldekideen Rolak: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11CD6A1-DE1B-BCDF-C3B4-7283E1A81DA5}"/>
              </a:ext>
            </a:extLst>
          </p:cNvPr>
          <p:cNvSpPr txBox="1"/>
          <p:nvPr/>
        </p:nvSpPr>
        <p:spPr>
          <a:xfrm>
            <a:off x="1079500" y="1866900"/>
            <a:ext cx="5270500" cy="1923604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00">
                <a:solidFill>
                  <a:srgbClr val="334155"/>
                </a:solidFill>
                <a:latin typeface="Segoe Print" panose="02000600000000000000" pitchFamily="2" charset="0"/>
              </a:rPr>
              <a:t>* Axular Munoz: Sareak (OSI 1-2, CRC-6, Modulazioak)
* Jokin Martinez: Datu-Baseak (E/R, 3FN, Access)
* Iker Monkayola: Digitalizazioa (IT/OT, 11 TGDak)
* Alex Sierra: Sistemak (WinServer, IIS, RAIDak)
* Talde Osoa: Web garapena eta memoria bateratua</a:t>
            </a:r>
          </a:p>
        </p:txBody>
      </p:sp>
      <p:sp>
        <p:nvSpPr>
          <p:cNvPr id="15" name="Rectángulo: esquina doblada 14">
            <a:extLst>
              <a:ext uri="{FF2B5EF4-FFF2-40B4-BE49-F238E27FC236}">
                <a16:creationId xmlns:a16="http://schemas.microsoft.com/office/drawing/2014/main" id="{E89EF1E0-D40E-EF30-C766-07A8A3DE216A}"/>
              </a:ext>
            </a:extLst>
          </p:cNvPr>
          <p:cNvSpPr/>
          <p:nvPr/>
        </p:nvSpPr>
        <p:spPr>
          <a:xfrm rot="90000">
            <a:off x="6985000" y="1524000"/>
            <a:ext cx="4318000" cy="2413000"/>
          </a:xfrm>
          <a:prstGeom prst="foldedCorner">
            <a:avLst/>
          </a:prstGeom>
          <a:solidFill>
            <a:srgbClr val="FED7AA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27000" rIns="101600" rtlCol="0" anchor="ctr"/>
          <a:lstStyle/>
          <a:p>
            <a:pPr algn="ctr"/>
            <a:r>
              <a:rPr lang="es-ES" sz="1100" b="1">
                <a:solidFill>
                  <a:srgbClr val="0F172A"/>
                </a:solidFill>
                <a:latin typeface="Segoe Print" panose="02000600000000000000" pitchFamily="2" charset="0"/>
              </a:rPr>
              <a:t>METODOLOGIA:
</a:t>
            </a:r>
            <a:r>
              <a:rPr lang="es-ES" sz="1000">
                <a:solidFill>
                  <a:srgbClr val="0F172A"/>
                </a:solidFill>
                <a:latin typeface="Segoe Print" panose="02000600000000000000" pitchFamily="2" charset="0"/>
              </a:rPr>
              <a:t>* Paperezko hasierako plana
* GitHub bertsio-kontrola
* Komunikazio etengabea
* Arazoei konponbide azkarra!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22CFB4A-6027-DCC9-AC4D-9DB6EBB89A3E}"/>
              </a:ext>
            </a:extLst>
          </p:cNvPr>
          <p:cNvSpPr/>
          <p:nvPr/>
        </p:nvSpPr>
        <p:spPr>
          <a:xfrm rot="90000">
            <a:off x="8699500" y="1435100"/>
            <a:ext cx="889000" cy="228600"/>
          </a:xfrm>
          <a:prstGeom prst="rect">
            <a:avLst/>
          </a:prstGeom>
          <a:solidFill>
            <a:srgbClr val="F1F5F9">
              <a:alpha val="6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88CE6ADF-C3FE-F65D-A553-7395F8400D18}"/>
              </a:ext>
            </a:extLst>
          </p:cNvPr>
          <p:cNvSpPr/>
          <p:nvPr/>
        </p:nvSpPr>
        <p:spPr>
          <a:xfrm rot="-180000">
            <a:off x="7493000" y="4445000"/>
            <a:ext cx="3302000" cy="698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it-IT" sz="1000" b="1">
                <a:solidFill>
                  <a:srgbClr val="16A34A"/>
                </a:solidFill>
                <a:latin typeface="Segoe Print" panose="02000600000000000000" pitchFamily="2" charset="0"/>
              </a:rPr>
              <a:t>[TALDE LANA BIKAIN
KOORDINAZIO OSOA]</a:t>
            </a:r>
            <a:endParaRPr lang="es-ES" sz="1000" b="1">
              <a:solidFill>
                <a:srgbClr val="16A34A"/>
              </a:solidFill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666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92CDC2C-8FC8-EF14-EE18-055BDE3BEF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798666CF-7A3A-5BE8-BA75-14EB4BEDCF84}"/>
              </a:ext>
            </a:extLst>
          </p:cNvPr>
          <p:cNvCxnSpPr/>
          <p:nvPr/>
        </p:nvCxnSpPr>
        <p:spPr>
          <a:xfrm>
            <a:off x="533400" y="0"/>
            <a:ext cx="0" cy="6858000"/>
          </a:xfrm>
          <a:prstGeom prst="line">
            <a:avLst/>
          </a:prstGeom>
          <a:ln w="15875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6E7CDA29-F737-506E-5BB8-DA4AFC60C79B}"/>
              </a:ext>
            </a:extLst>
          </p:cNvPr>
          <p:cNvSpPr/>
          <p:nvPr/>
        </p:nvSpPr>
        <p:spPr>
          <a:xfrm>
            <a:off x="177800" y="1079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9AC4E3E-5FDE-5DCB-6EF1-99B75368014F}"/>
              </a:ext>
            </a:extLst>
          </p:cNvPr>
          <p:cNvSpPr/>
          <p:nvPr/>
        </p:nvSpPr>
        <p:spPr>
          <a:xfrm>
            <a:off x="177800" y="2603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08895F6-C619-F0C7-DCDD-42BF3C233780}"/>
              </a:ext>
            </a:extLst>
          </p:cNvPr>
          <p:cNvSpPr/>
          <p:nvPr/>
        </p:nvSpPr>
        <p:spPr>
          <a:xfrm>
            <a:off x="177800" y="4127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82A09E3-C0CB-1E32-0704-9CE0C3F2C6DE}"/>
              </a:ext>
            </a:extLst>
          </p:cNvPr>
          <p:cNvSpPr/>
          <p:nvPr/>
        </p:nvSpPr>
        <p:spPr>
          <a:xfrm>
            <a:off x="177800" y="5651500"/>
            <a:ext cx="177800" cy="177800"/>
          </a:xfrm>
          <a:prstGeom prst="ellipse">
            <a:avLst/>
          </a:prstGeom>
          <a:solidFill>
            <a:srgbClr val="E2E8F0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6C21994-04AF-9015-85F7-85BE7404ED60}"/>
              </a:ext>
            </a:extLst>
          </p:cNvPr>
          <p:cNvSpPr/>
          <p:nvPr/>
        </p:nvSpPr>
        <p:spPr>
          <a:xfrm>
            <a:off x="787400" y="177800"/>
            <a:ext cx="3492500" cy="25400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es-ES" sz="900" b="1">
                <a:solidFill>
                  <a:srgbClr val="0F172A"/>
                </a:solidFill>
                <a:latin typeface="Segoe Print" panose="02000600000000000000" pitchFamily="2" charset="0"/>
              </a:rPr>
              <a:t>7. ONDORIOAK ETA AMAIERA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E8BB86C-025A-98F4-2F39-2BCF113650C3}"/>
              </a:ext>
            </a:extLst>
          </p:cNvPr>
          <p:cNvSpPr txBox="1"/>
          <p:nvPr/>
        </p:nvSpPr>
        <p:spPr>
          <a:xfrm>
            <a:off x="762000" y="431800"/>
            <a:ext cx="9652000" cy="379591"/>
          </a:xfrm>
          <a:prstGeom prst="rect">
            <a:avLst/>
          </a:prstGeom>
          <a:noFill/>
        </p:spPr>
        <p:txBody>
          <a:bodyPr vert="horz" lIns="25400" tIns="25400" rtlCol="0">
            <a:spAutoFit/>
          </a:bodyPr>
          <a:lstStyle/>
          <a:p>
            <a:r>
              <a:rPr lang="sv-SE" sz="2000" b="1">
                <a:solidFill>
                  <a:srgbClr val="0F172A"/>
                </a:solidFill>
                <a:latin typeface="Segoe Print" panose="02000600000000000000" pitchFamily="2" charset="0"/>
              </a:rPr>
              <a:t>Ondorio Teknikoak eta Erronkaren Balorazioa</a:t>
            </a:r>
            <a:endParaRPr lang="es-ES" sz="2000" b="1">
              <a:solidFill>
                <a:srgbClr val="0F172A"/>
              </a:solidFill>
              <a:latin typeface="Segoe Print" panose="02000600000000000000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76EB65F-F67D-5190-F524-0528C1F6B2FB}"/>
              </a:ext>
            </a:extLst>
          </p:cNvPr>
          <p:cNvSpPr/>
          <p:nvPr/>
        </p:nvSpPr>
        <p:spPr>
          <a:xfrm>
            <a:off x="787400" y="952500"/>
            <a:ext cx="5334000" cy="38100"/>
          </a:xfrm>
          <a:prstGeom prst="rect">
            <a:avLst/>
          </a:prstGeom>
          <a:solidFill>
            <a:srgbClr val="D9770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B5E9330-086F-3872-22DE-5B8E0124EB85}"/>
              </a:ext>
            </a:extLst>
          </p:cNvPr>
          <p:cNvSpPr txBox="1"/>
          <p:nvPr/>
        </p:nvSpPr>
        <p:spPr>
          <a:xfrm>
            <a:off x="10668000" y="64516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4748B"/>
                </a:solidFill>
                <a:latin typeface="Segoe Print" panose="02000600000000000000" pitchFamily="2" charset="0"/>
              </a:rPr>
              <a:t>22 / 22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822AEDD-656F-F0D5-FFA0-B5686DA5EB4F}"/>
              </a:ext>
            </a:extLst>
          </p:cNvPr>
          <p:cNvSpPr/>
          <p:nvPr/>
        </p:nvSpPr>
        <p:spPr>
          <a:xfrm>
            <a:off x="952500" y="1333500"/>
            <a:ext cx="5524500" cy="469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EFACF40-4EBB-4223-B1D8-F66DFE6296CA}"/>
              </a:ext>
            </a:extLst>
          </p:cNvPr>
          <p:cNvSpPr/>
          <p:nvPr/>
        </p:nvSpPr>
        <p:spPr>
          <a:xfrm>
            <a:off x="977900" y="1358900"/>
            <a:ext cx="5473700" cy="431800"/>
          </a:xfrm>
          <a:prstGeom prst="roundRect">
            <a:avLst/>
          </a:prstGeom>
          <a:solidFill>
            <a:srgbClr val="BBF7D0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38100" rtlCol="0" anchor="ctr"/>
          <a:lstStyle/>
          <a:p>
            <a:pPr algn="ctr"/>
            <a:r>
              <a:rPr lang="es-ES" sz="1300" b="1">
                <a:solidFill>
                  <a:srgbClr val="0F172A"/>
                </a:solidFill>
                <a:latin typeface="Segoe Print" panose="02000600000000000000" pitchFamily="2" charset="0"/>
              </a:rPr>
              <a:t>Integrazioaren 6 Pausoak: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9A7A84-3F62-5ED2-6920-462B208F2E0B}"/>
              </a:ext>
            </a:extLst>
          </p:cNvPr>
          <p:cNvSpPr txBox="1"/>
          <p:nvPr/>
        </p:nvSpPr>
        <p:spPr>
          <a:xfrm>
            <a:off x="1079500" y="1866900"/>
            <a:ext cx="5270500" cy="2323713"/>
          </a:xfrm>
          <a:prstGeom prst="rect">
            <a:avLst/>
          </a:prstGeom>
          <a:noFill/>
        </p:spPr>
        <p:txBody>
          <a:bodyPr vert="horz" wrap="square" lIns="76200" tIns="76200" rtlCol="0">
            <a:spAutoFit/>
          </a:bodyPr>
          <a:lstStyle/>
          <a:p>
            <a:r>
              <a:rPr lang="es-ES" sz="1300">
                <a:solidFill>
                  <a:srgbClr val="334155"/>
                </a:solidFill>
                <a:latin typeface="Segoe Print" panose="02000600000000000000" pitchFamily="2" charset="0"/>
              </a:rPr>
              <a:t>1. Azpiegitura Fisikoa (Cat6 + Patch Panel 18)
2. Transmisio Segurua (Kuper-67 + CRC-6)
3. Zerbitzari Lokala (WinServer 2022 + IIS 8080)
4. Datu-Base Normalizatua (3FN + Access)
5. Interfaze Modernoa (HTML5 + CSS3 Netflix)
6. Ebaluazioa (IT/OT eta 11 TGD Teknologiak)</a:t>
            </a:r>
          </a:p>
        </p:txBody>
      </p:sp>
      <p:sp>
        <p:nvSpPr>
          <p:cNvPr id="15" name="Círculo: vacío 14">
            <a:extLst>
              <a:ext uri="{FF2B5EF4-FFF2-40B4-BE49-F238E27FC236}">
                <a16:creationId xmlns:a16="http://schemas.microsoft.com/office/drawing/2014/main" id="{B7713EE5-F358-3541-3F59-ABDBCC7DE762}"/>
              </a:ext>
            </a:extLst>
          </p:cNvPr>
          <p:cNvSpPr/>
          <p:nvPr/>
        </p:nvSpPr>
        <p:spPr>
          <a:xfrm rot="-90000">
            <a:off x="6858000" y="1460500"/>
            <a:ext cx="4699000" cy="2413000"/>
          </a:xfrm>
          <a:prstGeom prst="donut">
            <a:avLst/>
          </a:prstGeom>
          <a:solidFill>
            <a:srgbClr val="FEF08A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203200" rtlCol="0" anchor="ctr"/>
          <a:lstStyle/>
          <a:p>
            <a:pPr algn="ctr"/>
            <a:r>
              <a:rPr lang="es-ES" sz="1350" b="1">
                <a:solidFill>
                  <a:srgbClr val="0F172A"/>
                </a:solidFill>
                <a:latin typeface="Segoe Print" panose="02000600000000000000" pitchFamily="2" charset="0"/>
              </a:rPr>
              <a:t>Eskerrik asko zuen arretagatik!
Galderarik edo zalantzarik?
5. Taldea prest dago erantzuteko!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7419C3C-E6E0-54F4-C8A8-1B83321C7AAC}"/>
              </a:ext>
            </a:extLst>
          </p:cNvPr>
          <p:cNvSpPr/>
          <p:nvPr/>
        </p:nvSpPr>
        <p:spPr>
          <a:xfrm rot="180000">
            <a:off x="7239000" y="4381500"/>
            <a:ext cx="3937000" cy="88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fi-FI" sz="1000" b="1">
                <a:solidFill>
                  <a:srgbClr val="16A34A"/>
                </a:solidFill>
                <a:latin typeface="Segoe Print" panose="02000600000000000000" pitchFamily="2" charset="0"/>
              </a:rPr>
              <a:t>[1. ERRONKA GAINDITUA!
SISA1 - 5. TALDEA]</a:t>
            </a:r>
            <a:endParaRPr lang="es-ES" sz="1000" b="1">
              <a:solidFill>
                <a:srgbClr val="16A34A"/>
              </a:solidFill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7851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1769</Words>
  <Application>Microsoft Office PowerPoint</Application>
  <PresentationFormat>Personalizado</PresentationFormat>
  <Paragraphs>141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Segoe Print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Muñoz Garcia, Axular</dc:creator>
  <cp:lastModifiedBy>Muñoz Garcia, Axular</cp:lastModifiedBy>
  <cp:revision>1</cp:revision>
  <dcterms:created xsi:type="dcterms:W3CDTF">2026-10-29T08:24:50Z</dcterms:created>
  <dcterms:modified xsi:type="dcterms:W3CDTF">2026-10-29T08:24:50Z</dcterms:modified>
</cp:coreProperties>
</file>